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301" r:id="rId2"/>
    <p:sldId id="355" r:id="rId3"/>
    <p:sldId id="258" r:id="rId4"/>
    <p:sldId id="269" r:id="rId5"/>
    <p:sldId id="346" r:id="rId6"/>
    <p:sldId id="329" r:id="rId7"/>
    <p:sldId id="334" r:id="rId8"/>
    <p:sldId id="345" r:id="rId9"/>
    <p:sldId id="343" r:id="rId10"/>
    <p:sldId id="344" r:id="rId11"/>
    <p:sldId id="342" r:id="rId12"/>
    <p:sldId id="340" r:id="rId13"/>
    <p:sldId id="347" r:id="rId14"/>
    <p:sldId id="348" r:id="rId15"/>
    <p:sldId id="349" r:id="rId16"/>
    <p:sldId id="350" r:id="rId17"/>
    <p:sldId id="351" r:id="rId18"/>
    <p:sldId id="352" r:id="rId19"/>
    <p:sldId id="353" r:id="rId20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35"/>
    <p:restoredTop sz="94694"/>
  </p:normalViewPr>
  <p:slideViewPr>
    <p:cSldViewPr snapToGrid="0">
      <p:cViewPr varScale="1">
        <p:scale>
          <a:sx n="121" d="100"/>
          <a:sy n="121" d="100"/>
        </p:scale>
        <p:origin x="8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888E08-BC1F-0543-B97D-E472BFA30EE4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F66142-2E28-DE40-BFB5-1A7B607851D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41023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C5E9704-6DFA-D0E5-2B52-2D7B6D8BD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C58661A-E90D-E66F-1D2D-D149698783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30DEE81-D8DF-08D1-DD9E-0B6D9266B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8F5B-1B7E-ED4E-BFE7-9AE019CF6DC6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48AB3A5-1158-C0DF-8BE1-D0BCED0A4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49A2524-DB4C-AE9A-EA93-348702D2F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9F8B-C3ED-C34E-82C0-6536DAEF635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16531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6E01A9-AC0B-C3CB-9106-185561577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9D2CF0F-1F10-74D5-6CCE-12FF37D79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F1585AC-B87F-E187-F30E-EFFF2E7FE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8F5B-1B7E-ED4E-BFE7-9AE019CF6DC6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39263A8-EB06-011C-889E-E55E51282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2B91F66-AB60-1FA6-E8D6-AE113F05A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9F8B-C3ED-C34E-82C0-6536DAEF635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60351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41CD9D-CA5F-278C-54F8-92ACF1F1A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3E0EB73-C7A0-85E2-7095-5F078D3E2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15AB8D3-99B7-A581-6CE5-2C6ADEB93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8F5B-1B7E-ED4E-BFE7-9AE019CF6DC6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0416DDC-2023-D2E2-C22D-A279336CA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E812686-E2B1-F671-B27A-34BD3A9E0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9F8B-C3ED-C34E-82C0-6536DAEF635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71301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9471896-A497-48DB-91CE-A215F82DA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55144C7-2455-7388-33B2-3A796EFF1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B19923A-74AA-0F19-1167-4C71A0C8D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D8464DE-8862-DC52-E499-F873A3580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8F5B-1B7E-ED4E-BFE7-9AE019CF6DC6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70174DB-BC23-A8EC-5436-2ABE0E3A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BCC52D6-BEA2-EEBD-54A0-C264D8388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9F8B-C3ED-C34E-82C0-6536DAEF635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66458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C2C650-D50C-3403-EC01-942862E4F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766EB2C-C411-A03A-6D85-932C4482F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10A6569-6474-4CC5-5B2F-5E7383F9F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2DA614BE-5A7B-FA73-68B3-7E942E57D4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BE474080-FE73-E0B3-CEEC-90F58E500C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6A5AC07-1F4F-7C87-FD20-34498D352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8F5B-1B7E-ED4E-BFE7-9AE019CF6DC6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1B5BEDA7-8761-A8A3-171A-44D0137A1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CF6FD8A2-8031-A492-F78A-45883FCE8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9F8B-C3ED-C34E-82C0-6536DAEF635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52844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633E768-9624-E941-F7D0-4041E0595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7A1989D7-D1FE-2E7A-ED42-1539AB2B0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8F5B-1B7E-ED4E-BFE7-9AE019CF6DC6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458113C-1EE8-8740-3089-4158C3E96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41F10E59-9F28-2977-E96E-8531169BD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9F8B-C3ED-C34E-82C0-6536DAEF635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205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D635F177-F734-2F50-62EB-5DF85E3D8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8F5B-1B7E-ED4E-BFE7-9AE019CF6DC6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83830641-5A65-BBD6-6AAD-88B139D25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5171785-99EE-A867-56C8-39694A285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9F8B-C3ED-C34E-82C0-6536DAEF635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05641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03E107E-BD37-5920-6E84-68566F1D6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D589FE3-EA94-1F4C-7985-80AE65D03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C493BD8-9CE8-2738-CF29-D7A7106FB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96D26B2-2FA1-19C1-D289-705263610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8F5B-1B7E-ED4E-BFE7-9AE019CF6DC6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5FA2EC3-3376-12AA-AA7A-EA6A264AF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FB9D320-43D5-2A96-618D-15BA3B58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9F8B-C3ED-C34E-82C0-6536DAEF635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37371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4D30A9E-46C2-9072-33A6-20DBB322E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8D5AD856-9C64-DEF7-1854-74F4F94DB5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54147CD-0E77-4CB4-465B-782708B72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FFC120B-A771-7A59-93C3-07A2896DE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8F5B-1B7E-ED4E-BFE7-9AE019CF6DC6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AA79692-6635-286E-51A6-4AF9A1D0C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A9FBC23-CCFA-76F4-C7FE-8763F041E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9F8B-C3ED-C34E-82C0-6536DAEF635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14871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877C2C5-66C0-6827-E5CD-7C8406A4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41F4912-1C1D-4D2B-7049-8CDF77B0C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96930AA-B53D-63A7-8BD2-1C867833E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8F5B-1B7E-ED4E-BFE7-9AE019CF6DC6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43D7D4E-E1B9-A934-D64A-3452E206F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D5E927D-7719-D09D-7647-6DD7CAFFA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9F8B-C3ED-C34E-82C0-6536DAEF635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91616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6A74968D-9CB0-B4A1-03DE-06A7AC7321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C5D9247-E6CB-1C12-8C0A-50586A3A9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D126CE4-7585-CFC8-D818-DBE7DE74D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48F5B-1B7E-ED4E-BFE7-9AE019CF6DC6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439286D-5132-FE7B-972C-CFE433504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A06511F-FE5E-35A2-D9ED-069BFED69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39F8B-C3ED-C34E-82C0-6536DAEF635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05931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kład niestandard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B9B05E3-C48F-4BD6-8A96-A14D2BAF38A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87A4BEA-E09C-401F-AD54-92B2C41AC5F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251780"/>
            <a:ext cx="9144000" cy="438754"/>
          </a:xfrm>
          <a:prstGeom prst="rect">
            <a:avLst/>
          </a:prstGeom>
        </p:spPr>
        <p:txBody>
          <a:bodyPr/>
          <a:lstStyle>
            <a:lvl1pPr marL="0" indent="93663" algn="l">
              <a:buNone/>
              <a:defRPr sz="2000" baseline="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 dirty="0"/>
              <a:t>Dodatkowa nazwa czy autor prezentacji. 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ECC2253-B2D8-4107-892B-CBF89401093F}"/>
              </a:ext>
            </a:extLst>
          </p:cNvPr>
          <p:cNvSpPr txBox="1">
            <a:spLocks/>
          </p:cNvSpPr>
          <p:nvPr userDrawn="1"/>
        </p:nvSpPr>
        <p:spPr>
          <a:xfrm>
            <a:off x="3824515" y="365125"/>
            <a:ext cx="457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OCRpolski" panose="02010509020102010303" pitchFamily="50" charset="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l-PL" dirty="0">
                <a:solidFill>
                  <a:schemeClr val="bg1"/>
                </a:solidFill>
                <a:latin typeface="IBM Plex Sans" panose="020B0503050203000203" pitchFamily="34" charset="0"/>
              </a:rPr>
              <a:t>Polsko-Japońska Akademia Technik Komputerowych</a:t>
            </a:r>
            <a:endParaRPr lang="en-US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301AC5-525F-4011-95AA-296E08440C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551" y="5680453"/>
            <a:ext cx="615590" cy="627004"/>
          </a:xfrm>
          <a:prstGeom prst="rect">
            <a:avLst/>
          </a:prstGeom>
        </p:spPr>
      </p:pic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9E7C9829-D927-495C-9147-448A7A695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84777" y="5696214"/>
            <a:ext cx="1483556" cy="6270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00" baseline="0">
                <a:solidFill>
                  <a:schemeClr val="bg1"/>
                </a:solidFill>
                <a:latin typeface="Mundial Light" pitchFamily="50" charset="-18"/>
              </a:defRPr>
            </a:lvl1pPr>
          </a:lstStyle>
          <a:p>
            <a:br>
              <a:rPr lang="pl-PL" dirty="0"/>
            </a:br>
            <a:r>
              <a:rPr lang="pl-PL" dirty="0"/>
              <a:t>Miejsce na wasze osobiste logo</a:t>
            </a:r>
            <a:endParaRPr lang="en-US" dirty="0"/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97D90A88-35AF-4ADC-ACE2-DB1D81EB39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532063" y="5680075"/>
            <a:ext cx="676275" cy="6270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00" baseline="0">
                <a:solidFill>
                  <a:schemeClr val="bg1"/>
                </a:solidFill>
                <a:latin typeface="Mundial Light" pitchFamily="50" charset="-18"/>
              </a:defRPr>
            </a:lvl1pPr>
          </a:lstStyle>
          <a:p>
            <a:r>
              <a:rPr lang="pl-PL" dirty="0"/>
              <a:t>Miejsce na wasze osobiste logo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C7C27E8-2E3B-4A11-9E20-5BA04B40F6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566333"/>
            <a:ext cx="9144000" cy="2547787"/>
          </a:xfrm>
        </p:spPr>
        <p:txBody>
          <a:bodyPr anchor="b"/>
          <a:lstStyle>
            <a:lvl1pPr algn="l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pl-PL" dirty="0"/>
              <a:t>Nazwa </a:t>
            </a:r>
            <a:br>
              <a:rPr lang="pl-PL" dirty="0"/>
            </a:br>
            <a:r>
              <a:rPr lang="pl-PL" dirty="0"/>
              <a:t>Prezentacji</a:t>
            </a:r>
            <a:br>
              <a:rPr lang="pl-PL" dirty="0"/>
            </a:br>
            <a:r>
              <a:rPr lang="pl-PL" dirty="0"/>
              <a:t>Administracja PJATK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554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47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CFAB15A-1825-D987-87F5-EADECCC38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ED9BD62-92CD-258F-6E6F-D9EB28318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65A397B-4BD6-D040-881B-9520EFE171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748F5B-1B7E-ED4E-BFE7-9AE019CF6DC6}" type="datetimeFigureOut">
              <a:rPr lang="pl-PL" smtClean="0"/>
              <a:t>10.12.2025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429A324-3854-0250-B09B-11A587E3A9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F7DF2D1-8E88-C9B1-3138-DB00FA9B0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039F8B-C3ED-C34E-82C0-6536DAEF635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8843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F7C18D2-A792-29D4-F88D-B83592634A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Igor Hebda s34836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4C2E6A-8FBC-8C08-970D-BED29A89EA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Used Car Price Prediction with Neural Regression Models</a:t>
            </a:r>
            <a:br>
              <a:rPr lang="en-US" dirty="0"/>
            </a:br>
            <a:r>
              <a:rPr lang="en-US" dirty="0"/>
              <a:t>Presentation One</a:t>
            </a:r>
          </a:p>
        </p:txBody>
      </p:sp>
    </p:spTree>
    <p:extLst>
      <p:ext uri="{BB962C8B-B14F-4D97-AF65-F5344CB8AC3E}">
        <p14:creationId xmlns:p14="http://schemas.microsoft.com/office/powerpoint/2010/main" val="2584568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0F022EF-A2C0-74ED-74BA-02AF990B3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Source </a:t>
            </a:r>
            <a:r>
              <a:rPr lang="pl-PL" dirty="0" err="1"/>
              <a:t>code</a:t>
            </a:r>
            <a:r>
              <a:rPr lang="pl-PL" dirty="0"/>
              <a:t>: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1193AA0-248F-C0EF-5080-2C5F1AEBC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https</a:t>
            </a:r>
            <a:r>
              <a:rPr lang="pl-PL" dirty="0"/>
              <a:t>://</a:t>
            </a:r>
            <a:r>
              <a:rPr lang="pl-PL" dirty="0" err="1"/>
              <a:t>github.com</a:t>
            </a:r>
            <a:r>
              <a:rPr lang="pl-PL" dirty="0"/>
              <a:t>/s34836/WUM_PROJECT</a:t>
            </a:r>
          </a:p>
        </p:txBody>
      </p:sp>
    </p:spTree>
    <p:extLst>
      <p:ext uri="{BB962C8B-B14F-4D97-AF65-F5344CB8AC3E}">
        <p14:creationId xmlns:p14="http://schemas.microsoft.com/office/powerpoint/2010/main" val="1761605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C8A9E78-644D-BECB-6719-FFD8470F0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4268924"/>
          </a:xfrm>
        </p:spPr>
        <p:txBody>
          <a:bodyPr anchor="b">
            <a:normAutofit/>
          </a:bodyPr>
          <a:lstStyle/>
          <a:p>
            <a:pPr algn="r"/>
            <a:r>
              <a:rPr lang="pl-PL" sz="4000" dirty="0">
                <a:solidFill>
                  <a:srgbClr val="FFFFFF"/>
                </a:solidFill>
              </a:rPr>
              <a:t>Part I: </a:t>
            </a:r>
            <a:br>
              <a:rPr lang="pl-PL" sz="4000" dirty="0">
                <a:solidFill>
                  <a:srgbClr val="FFFFFF"/>
                </a:solidFill>
              </a:rPr>
            </a:br>
            <a:br>
              <a:rPr lang="pl-PL" sz="4000" dirty="0">
                <a:solidFill>
                  <a:srgbClr val="FFFFFF"/>
                </a:solidFill>
              </a:rPr>
            </a:br>
            <a:r>
              <a:rPr lang="pl-PL" sz="4000" dirty="0">
                <a:solidFill>
                  <a:srgbClr val="FFFFFF"/>
                </a:solidFill>
              </a:rPr>
              <a:t>1. </a:t>
            </a:r>
            <a:r>
              <a:rPr lang="pl-PL" sz="4000" dirty="0" err="1">
                <a:solidFill>
                  <a:srgbClr val="FFFFFF"/>
                </a:solidFill>
              </a:rPr>
              <a:t>Goal</a:t>
            </a:r>
            <a:r>
              <a:rPr lang="pl-PL" sz="4000" dirty="0">
                <a:solidFill>
                  <a:srgbClr val="FFFFFF"/>
                </a:solidFill>
              </a:rPr>
              <a:t> Definition</a:t>
            </a:r>
            <a:br>
              <a:rPr lang="pl-PL" sz="4000" dirty="0">
                <a:solidFill>
                  <a:srgbClr val="FFFFFF"/>
                </a:solidFill>
              </a:rPr>
            </a:br>
            <a:br>
              <a:rPr lang="pl-PL" sz="4000" dirty="0">
                <a:solidFill>
                  <a:srgbClr val="FFFFFF"/>
                </a:solidFill>
              </a:rPr>
            </a:br>
            <a:r>
              <a:rPr lang="pl-PL" sz="4000" dirty="0">
                <a:solidFill>
                  <a:srgbClr val="FFFFFF"/>
                </a:solidFill>
              </a:rPr>
              <a:t>2. Data Collection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E60EA9D-7324-3FAA-1DC9-26051E2F4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000" dirty="0" err="1"/>
              <a:t>Objective</a:t>
            </a:r>
            <a:r>
              <a:rPr lang="pl-PL" sz="2000" dirty="0"/>
              <a:t>:</a:t>
            </a:r>
          </a:p>
          <a:p>
            <a:pPr marL="0" indent="0">
              <a:buNone/>
            </a:pPr>
            <a:r>
              <a:rPr lang="pl-PL" sz="2000" dirty="0" err="1"/>
              <a:t>Build</a:t>
            </a:r>
            <a:r>
              <a:rPr lang="pl-PL" sz="2000" dirty="0"/>
              <a:t> and </a:t>
            </a:r>
            <a:r>
              <a:rPr lang="pl-PL" sz="2000" dirty="0" err="1"/>
              <a:t>compare</a:t>
            </a:r>
            <a:r>
              <a:rPr lang="pl-PL" sz="2000" dirty="0"/>
              <a:t> </a:t>
            </a:r>
            <a:r>
              <a:rPr lang="pl-PL" sz="2000" dirty="0" err="1"/>
              <a:t>models</a:t>
            </a:r>
            <a:r>
              <a:rPr lang="pl-PL" sz="2000" dirty="0"/>
              <a:t> for </a:t>
            </a:r>
            <a:r>
              <a:rPr lang="pl-PL" sz="2000" dirty="0" err="1"/>
              <a:t>predicting</a:t>
            </a:r>
            <a:r>
              <a:rPr lang="pl-PL" sz="2000" dirty="0"/>
              <a:t> </a:t>
            </a:r>
            <a:r>
              <a:rPr lang="pl-PL" sz="2000" dirty="0" err="1"/>
              <a:t>used</a:t>
            </a:r>
            <a:r>
              <a:rPr lang="pl-PL" sz="2000" dirty="0"/>
              <a:t> car </a:t>
            </a:r>
            <a:r>
              <a:rPr lang="pl-PL" sz="2000" dirty="0" err="1"/>
              <a:t>prices</a:t>
            </a:r>
            <a:r>
              <a:rPr lang="pl-PL" sz="2000" dirty="0"/>
              <a:t> </a:t>
            </a:r>
            <a:r>
              <a:rPr lang="pl-PL" sz="2000" dirty="0" err="1"/>
              <a:t>using</a:t>
            </a:r>
            <a:r>
              <a:rPr lang="pl-PL" sz="2000" dirty="0"/>
              <a:t> </a:t>
            </a:r>
            <a:r>
              <a:rPr lang="pl-PL" sz="2000" dirty="0" err="1"/>
              <a:t>structured</a:t>
            </a:r>
            <a:r>
              <a:rPr lang="pl-PL" sz="2000" dirty="0"/>
              <a:t> </a:t>
            </a:r>
            <a:r>
              <a:rPr lang="pl-PL" sz="2000" dirty="0" err="1"/>
              <a:t>vehicle</a:t>
            </a:r>
            <a:r>
              <a:rPr lang="pl-PL" sz="2000" dirty="0"/>
              <a:t> data and </a:t>
            </a:r>
            <a:r>
              <a:rPr lang="pl-PL" sz="2000" dirty="0" err="1"/>
              <a:t>text</a:t>
            </a:r>
            <a:r>
              <a:rPr lang="pl-PL" sz="2000" dirty="0"/>
              <a:t> </a:t>
            </a:r>
            <a:r>
              <a:rPr lang="pl-PL" sz="2000" dirty="0" err="1"/>
              <a:t>descriptions</a:t>
            </a:r>
            <a:r>
              <a:rPr lang="pl-PL" sz="2000" dirty="0"/>
              <a:t> from </a:t>
            </a:r>
            <a:r>
              <a:rPr lang="pl-PL" sz="2000" dirty="0" err="1"/>
              <a:t>Otomoto.pl</a:t>
            </a:r>
            <a:r>
              <a:rPr lang="pl-PL" sz="2000" dirty="0"/>
              <a:t>.</a:t>
            </a:r>
          </a:p>
          <a:p>
            <a:pPr marL="0" indent="0">
              <a:buNone/>
            </a:pPr>
            <a:endParaRPr lang="pl-PL" sz="2000" dirty="0"/>
          </a:p>
          <a:p>
            <a:pPr marL="0" indent="0">
              <a:buNone/>
            </a:pPr>
            <a:r>
              <a:rPr lang="pl-PL" sz="2000" dirty="0" err="1"/>
              <a:t>Dataset</a:t>
            </a:r>
            <a:r>
              <a:rPr lang="pl-PL" sz="2000" dirty="0"/>
              <a:t>:</a:t>
            </a:r>
          </a:p>
          <a:p>
            <a:pPr marL="0" indent="0">
              <a:buNone/>
            </a:pPr>
            <a:r>
              <a:rPr lang="pl-PL" sz="2000" dirty="0"/>
              <a:t>206k </a:t>
            </a:r>
            <a:r>
              <a:rPr lang="pl-PL" sz="2000" dirty="0" err="1"/>
              <a:t>listings</a:t>
            </a:r>
            <a:r>
              <a:rPr lang="pl-PL" sz="2000" dirty="0"/>
              <a:t> </a:t>
            </a:r>
            <a:r>
              <a:rPr lang="pl-PL" sz="2000" dirty="0" err="1"/>
              <a:t>after</a:t>
            </a:r>
            <a:r>
              <a:rPr lang="pl-PL" sz="2000" dirty="0"/>
              <a:t> </a:t>
            </a:r>
            <a:r>
              <a:rPr lang="pl-PL" sz="2000" dirty="0" err="1"/>
              <a:t>cleaning</a:t>
            </a:r>
            <a:r>
              <a:rPr lang="pl-PL" sz="2000" dirty="0"/>
              <a:t>; </a:t>
            </a:r>
            <a:r>
              <a:rPr lang="pl-PL" sz="2000" dirty="0" err="1"/>
              <a:t>includes</a:t>
            </a:r>
            <a:r>
              <a:rPr lang="pl-PL" sz="2000" dirty="0"/>
              <a:t> </a:t>
            </a:r>
            <a:r>
              <a:rPr lang="pl-PL" sz="2000" dirty="0" err="1"/>
              <a:t>numeric</a:t>
            </a:r>
            <a:r>
              <a:rPr lang="pl-PL" sz="2000" dirty="0"/>
              <a:t>, </a:t>
            </a:r>
            <a:r>
              <a:rPr lang="pl-PL" sz="2000" dirty="0" err="1"/>
              <a:t>categorical</a:t>
            </a:r>
            <a:r>
              <a:rPr lang="pl-PL" sz="2000" dirty="0"/>
              <a:t>, </a:t>
            </a:r>
            <a:r>
              <a:rPr lang="pl-PL" sz="2000" dirty="0" err="1"/>
              <a:t>equipment</a:t>
            </a:r>
            <a:r>
              <a:rPr lang="pl-PL" sz="2000" dirty="0"/>
              <a:t> </a:t>
            </a:r>
            <a:r>
              <a:rPr lang="pl-PL" sz="2000" dirty="0" err="1"/>
              <a:t>features</a:t>
            </a:r>
            <a:r>
              <a:rPr lang="pl-PL" sz="2000" dirty="0"/>
              <a:t>, and PCA-</a:t>
            </a:r>
            <a:r>
              <a:rPr lang="pl-PL" sz="2000" dirty="0" err="1"/>
              <a:t>reduced</a:t>
            </a:r>
            <a:r>
              <a:rPr lang="pl-PL" sz="2000" dirty="0"/>
              <a:t> </a:t>
            </a:r>
            <a:r>
              <a:rPr lang="pl-PL" sz="2000" dirty="0" err="1"/>
              <a:t>HerBERT</a:t>
            </a:r>
            <a:r>
              <a:rPr lang="pl-PL" sz="2000" dirty="0"/>
              <a:t> </a:t>
            </a:r>
            <a:r>
              <a:rPr lang="pl-PL" sz="2000" dirty="0" err="1"/>
              <a:t>text</a:t>
            </a:r>
            <a:r>
              <a:rPr lang="pl-PL" sz="2000" dirty="0"/>
              <a:t> </a:t>
            </a:r>
            <a:r>
              <a:rPr lang="pl-PL" sz="2000" dirty="0" err="1"/>
              <a:t>embeddings</a:t>
            </a:r>
            <a:r>
              <a:rPr lang="pl-PL" sz="2000" dirty="0"/>
              <a:t>.</a:t>
            </a:r>
          </a:p>
        </p:txBody>
      </p:sp>
      <p:pic>
        <p:nvPicPr>
          <p:cNvPr id="5" name="Picture 4" descr="Obraz zawierający budynek, Urbanistyka, obwód&#10;&#10;Zawartość wygenerowana przez AI może być niepoprawna.">
            <a:extLst>
              <a:ext uri="{FF2B5EF4-FFF2-40B4-BE49-F238E27FC236}">
                <a16:creationId xmlns:a16="http://schemas.microsoft.com/office/drawing/2014/main" id="{7495A4C9-1E34-D018-DAC7-7E0A548AC4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52" r="18380"/>
          <a:stretch>
            <a:fillRect/>
          </a:stretch>
        </p:blipFill>
        <p:spPr>
          <a:xfrm>
            <a:off x="8109502" y="1403368"/>
            <a:ext cx="3615776" cy="406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352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DDAF45-037E-C9F4-705F-8B6BA9DB7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2719ABA-E96F-775B-B774-E64761A02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pl-PL" sz="2000" dirty="0" err="1"/>
              <a:t>Main</a:t>
            </a:r>
            <a:r>
              <a:rPr lang="pl-PL" sz="2000" dirty="0"/>
              <a:t> </a:t>
            </a:r>
            <a:r>
              <a:rPr lang="pl-PL" sz="2000" dirty="0" err="1"/>
              <a:t>preprocessing</a:t>
            </a:r>
            <a:r>
              <a:rPr lang="pl-PL" sz="2000" dirty="0"/>
              <a:t> </a:t>
            </a:r>
            <a:r>
              <a:rPr lang="pl-PL" sz="2000" dirty="0" err="1"/>
              <a:t>steps</a:t>
            </a:r>
            <a:r>
              <a:rPr lang="pl-PL" sz="2000" dirty="0"/>
              <a:t>:</a:t>
            </a:r>
          </a:p>
          <a:p>
            <a:pPr marL="0" indent="0">
              <a:buNone/>
            </a:pPr>
            <a:r>
              <a:rPr lang="pl-PL" sz="2000" dirty="0"/>
              <a:t>• </a:t>
            </a:r>
            <a:r>
              <a:rPr lang="pl-PL" sz="2000" dirty="0" err="1"/>
              <a:t>Removed</a:t>
            </a:r>
            <a:r>
              <a:rPr lang="pl-PL" sz="2000" dirty="0"/>
              <a:t> </a:t>
            </a:r>
            <a:r>
              <a:rPr lang="pl-PL" sz="2000" dirty="0" err="1"/>
              <a:t>listings</a:t>
            </a:r>
            <a:r>
              <a:rPr lang="pl-PL" sz="2000" dirty="0"/>
              <a:t> with missing </a:t>
            </a:r>
            <a:r>
              <a:rPr lang="pl-PL" sz="2000" dirty="0" err="1"/>
              <a:t>key</a:t>
            </a:r>
            <a:r>
              <a:rPr lang="pl-PL" sz="2000" dirty="0"/>
              <a:t> </a:t>
            </a:r>
            <a:r>
              <a:rPr lang="pl-PL" sz="2000" dirty="0" err="1"/>
              <a:t>attributes</a:t>
            </a:r>
            <a:r>
              <a:rPr lang="pl-PL" sz="2000" dirty="0"/>
              <a:t> (</a:t>
            </a:r>
            <a:r>
              <a:rPr lang="pl-PL" sz="2000" dirty="0" err="1"/>
              <a:t>price</a:t>
            </a:r>
            <a:r>
              <a:rPr lang="pl-PL" sz="2000" dirty="0"/>
              <a:t>, </a:t>
            </a:r>
            <a:r>
              <a:rPr lang="pl-PL" sz="2000" dirty="0" err="1"/>
              <a:t>mileage</a:t>
            </a:r>
            <a:r>
              <a:rPr lang="pl-PL" sz="2000" dirty="0"/>
              <a:t>, </a:t>
            </a:r>
            <a:r>
              <a:rPr lang="pl-PL" sz="2000" dirty="0" err="1"/>
              <a:t>year</a:t>
            </a:r>
            <a:r>
              <a:rPr lang="pl-PL" sz="2000" dirty="0"/>
              <a:t>, </a:t>
            </a:r>
            <a:r>
              <a:rPr lang="pl-PL" sz="2000" dirty="0" err="1"/>
              <a:t>gearbox</a:t>
            </a:r>
            <a:r>
              <a:rPr lang="pl-PL" sz="2000" dirty="0"/>
              <a:t>)</a:t>
            </a:r>
          </a:p>
          <a:p>
            <a:pPr marL="0" indent="0">
              <a:buNone/>
            </a:pPr>
            <a:r>
              <a:rPr lang="pl-PL" sz="2000" dirty="0"/>
              <a:t>• </a:t>
            </a:r>
            <a:r>
              <a:rPr lang="pl-PL" sz="2000" dirty="0" err="1"/>
              <a:t>Filtered</a:t>
            </a:r>
            <a:r>
              <a:rPr lang="pl-PL" sz="2000" dirty="0"/>
              <a:t> </a:t>
            </a:r>
            <a:r>
              <a:rPr lang="pl-PL" sz="2000" dirty="0" err="1"/>
              <a:t>extreme</a:t>
            </a:r>
            <a:r>
              <a:rPr lang="pl-PL" sz="2000" dirty="0"/>
              <a:t> </a:t>
            </a:r>
            <a:r>
              <a:rPr lang="pl-PL" sz="2000" dirty="0" err="1"/>
              <a:t>outliers</a:t>
            </a:r>
            <a:r>
              <a:rPr lang="pl-PL" sz="2000" dirty="0"/>
              <a:t> and </a:t>
            </a:r>
            <a:r>
              <a:rPr lang="pl-PL" sz="2000" dirty="0" err="1"/>
              <a:t>unrealistic</a:t>
            </a:r>
            <a:r>
              <a:rPr lang="pl-PL" sz="2000" dirty="0"/>
              <a:t> </a:t>
            </a:r>
            <a:r>
              <a:rPr lang="pl-PL" sz="2000" dirty="0" err="1"/>
              <a:t>prices</a:t>
            </a:r>
            <a:r>
              <a:rPr lang="pl-PL" sz="2000" dirty="0"/>
              <a:t> (&gt;3M PLN)</a:t>
            </a:r>
          </a:p>
          <a:p>
            <a:pPr marL="0" indent="0">
              <a:buNone/>
            </a:pPr>
            <a:r>
              <a:rPr lang="pl-PL" sz="2000" dirty="0"/>
              <a:t>• </a:t>
            </a:r>
            <a:r>
              <a:rPr lang="pl-PL" sz="2000" dirty="0" err="1"/>
              <a:t>Removed</a:t>
            </a:r>
            <a:r>
              <a:rPr lang="pl-PL" sz="2000" dirty="0"/>
              <a:t> </a:t>
            </a:r>
            <a:r>
              <a:rPr lang="pl-PL" sz="2000" dirty="0" err="1"/>
              <a:t>rare</a:t>
            </a:r>
            <a:r>
              <a:rPr lang="pl-PL" sz="2000" dirty="0"/>
              <a:t> </a:t>
            </a:r>
            <a:r>
              <a:rPr lang="pl-PL" sz="2000" dirty="0" err="1"/>
              <a:t>make</a:t>
            </a:r>
            <a:r>
              <a:rPr lang="pl-PL" sz="2000" dirty="0"/>
              <a:t>–model </a:t>
            </a:r>
            <a:r>
              <a:rPr lang="pl-PL" sz="2000" dirty="0" err="1"/>
              <a:t>pairs</a:t>
            </a:r>
            <a:r>
              <a:rPr lang="pl-PL" sz="2000" dirty="0"/>
              <a:t> (&lt;20 </a:t>
            </a:r>
            <a:r>
              <a:rPr lang="pl-PL" sz="2000" dirty="0" err="1"/>
              <a:t>listings</a:t>
            </a:r>
            <a:r>
              <a:rPr lang="pl-PL" sz="2000" dirty="0"/>
              <a:t>)</a:t>
            </a:r>
          </a:p>
          <a:p>
            <a:pPr marL="0" indent="0">
              <a:buNone/>
            </a:pPr>
            <a:r>
              <a:rPr lang="pl-PL" sz="2000" dirty="0"/>
              <a:t>• Target </a:t>
            </a:r>
            <a:r>
              <a:rPr lang="pl-PL" sz="2000" dirty="0" err="1"/>
              <a:t>encoding</a:t>
            </a:r>
            <a:r>
              <a:rPr lang="pl-PL" sz="2000" dirty="0"/>
              <a:t> for </a:t>
            </a:r>
            <a:r>
              <a:rPr lang="pl-PL" sz="2000" dirty="0" err="1"/>
              <a:t>categorical</a:t>
            </a:r>
            <a:r>
              <a:rPr lang="pl-PL" sz="2000" dirty="0"/>
              <a:t> </a:t>
            </a:r>
            <a:r>
              <a:rPr lang="pl-PL" sz="2000" dirty="0" err="1"/>
              <a:t>variables</a:t>
            </a:r>
            <a:endParaRPr lang="pl-PL" sz="2000" dirty="0"/>
          </a:p>
          <a:p>
            <a:pPr marL="0" indent="0">
              <a:buNone/>
            </a:pPr>
            <a:r>
              <a:rPr lang="pl-PL" sz="2000" dirty="0"/>
              <a:t>• Log </a:t>
            </a:r>
            <a:r>
              <a:rPr lang="pl-PL" sz="2000" dirty="0" err="1"/>
              <a:t>transformation</a:t>
            </a:r>
            <a:r>
              <a:rPr lang="pl-PL" sz="2000" dirty="0"/>
              <a:t> of </a:t>
            </a:r>
            <a:r>
              <a:rPr lang="pl-PL" sz="2000" dirty="0" err="1"/>
              <a:t>price</a:t>
            </a:r>
            <a:endParaRPr lang="pl-PL" sz="2000" dirty="0"/>
          </a:p>
          <a:p>
            <a:pPr marL="0" indent="0">
              <a:buNone/>
            </a:pPr>
            <a:r>
              <a:rPr lang="pl-PL" sz="2000" dirty="0"/>
              <a:t>• </a:t>
            </a:r>
            <a:r>
              <a:rPr lang="pl-PL" sz="2000" dirty="0" err="1"/>
              <a:t>Standardization</a:t>
            </a:r>
            <a:r>
              <a:rPr lang="pl-PL" sz="2000" dirty="0"/>
              <a:t> of </a:t>
            </a:r>
            <a:r>
              <a:rPr lang="pl-PL" sz="2000" dirty="0" err="1"/>
              <a:t>continuous</a:t>
            </a:r>
            <a:r>
              <a:rPr lang="pl-PL" sz="2000" dirty="0"/>
              <a:t> </a:t>
            </a:r>
            <a:r>
              <a:rPr lang="pl-PL" sz="2000" dirty="0" err="1"/>
              <a:t>features</a:t>
            </a:r>
            <a:endParaRPr lang="pl-PL" sz="2000" dirty="0"/>
          </a:p>
          <a:p>
            <a:pPr marL="0" indent="0">
              <a:buNone/>
            </a:pPr>
            <a:endParaRPr lang="pl-PL" sz="2000" dirty="0"/>
          </a:p>
          <a:p>
            <a:pPr marL="0" indent="0">
              <a:buNone/>
            </a:pPr>
            <a:r>
              <a:rPr lang="pl-PL" sz="2000" dirty="0" err="1"/>
              <a:t>Key</a:t>
            </a:r>
            <a:r>
              <a:rPr lang="pl-PL" sz="2000" dirty="0"/>
              <a:t> EDA </a:t>
            </a:r>
            <a:r>
              <a:rPr lang="pl-PL" sz="2000" dirty="0" err="1"/>
              <a:t>insights</a:t>
            </a:r>
            <a:r>
              <a:rPr lang="pl-PL" sz="2000" dirty="0"/>
              <a:t>:</a:t>
            </a:r>
          </a:p>
          <a:p>
            <a:pPr marL="0" indent="0">
              <a:buNone/>
            </a:pPr>
            <a:r>
              <a:rPr lang="pl-PL" sz="2000" dirty="0"/>
              <a:t>• </a:t>
            </a:r>
            <a:r>
              <a:rPr lang="pl-PL" sz="2000" dirty="0" err="1"/>
              <a:t>Strong</a:t>
            </a:r>
            <a:r>
              <a:rPr lang="pl-PL" sz="2000" dirty="0"/>
              <a:t> </a:t>
            </a:r>
            <a:r>
              <a:rPr lang="pl-PL" sz="2000" dirty="0" err="1"/>
              <a:t>nonlinear</a:t>
            </a:r>
            <a:r>
              <a:rPr lang="pl-PL" sz="2000" dirty="0"/>
              <a:t> </a:t>
            </a:r>
            <a:r>
              <a:rPr lang="pl-PL" sz="2000" dirty="0" err="1"/>
              <a:t>patterns</a:t>
            </a:r>
            <a:r>
              <a:rPr lang="pl-PL" sz="2000" dirty="0"/>
              <a:t> </a:t>
            </a:r>
            <a:r>
              <a:rPr lang="pl-PL" sz="2000" dirty="0" err="1"/>
              <a:t>between</a:t>
            </a:r>
            <a:r>
              <a:rPr lang="pl-PL" sz="2000" dirty="0"/>
              <a:t> log-</a:t>
            </a:r>
            <a:r>
              <a:rPr lang="pl-PL" sz="2000" dirty="0" err="1"/>
              <a:t>price</a:t>
            </a:r>
            <a:r>
              <a:rPr lang="pl-PL" sz="2000" dirty="0"/>
              <a:t> and </a:t>
            </a:r>
            <a:r>
              <a:rPr lang="pl-PL" sz="2000" dirty="0" err="1"/>
              <a:t>mileage</a:t>
            </a:r>
            <a:r>
              <a:rPr lang="pl-PL" sz="2000" dirty="0"/>
              <a:t>, </a:t>
            </a:r>
            <a:r>
              <a:rPr lang="pl-PL" sz="2000" dirty="0" err="1"/>
              <a:t>age</a:t>
            </a:r>
            <a:r>
              <a:rPr lang="pl-PL" sz="2000" dirty="0"/>
              <a:t>, </a:t>
            </a:r>
            <a:r>
              <a:rPr lang="pl-PL" sz="2000" dirty="0" err="1"/>
              <a:t>power</a:t>
            </a:r>
            <a:endParaRPr lang="pl-PL" sz="2000" dirty="0"/>
          </a:p>
          <a:p>
            <a:pPr marL="0" indent="0">
              <a:buNone/>
            </a:pPr>
            <a:r>
              <a:rPr lang="pl-PL" sz="2000" dirty="0"/>
              <a:t>• </a:t>
            </a:r>
            <a:r>
              <a:rPr lang="pl-PL" sz="2000" dirty="0" err="1"/>
              <a:t>Equipment</a:t>
            </a:r>
            <a:r>
              <a:rPr lang="pl-PL" sz="2000" dirty="0"/>
              <a:t> </a:t>
            </a:r>
            <a:r>
              <a:rPr lang="pl-PL" sz="2000" dirty="0" err="1"/>
              <a:t>categories</a:t>
            </a:r>
            <a:r>
              <a:rPr lang="pl-PL" sz="2000" dirty="0"/>
              <a:t> show high </a:t>
            </a:r>
            <a:r>
              <a:rPr lang="pl-PL" sz="2000" dirty="0" err="1"/>
              <a:t>sparsity</a:t>
            </a:r>
            <a:endParaRPr lang="pl-PL" sz="2000" dirty="0"/>
          </a:p>
          <a:p>
            <a:pPr marL="0" indent="0">
              <a:buNone/>
            </a:pPr>
            <a:r>
              <a:rPr lang="pl-PL" sz="2000" dirty="0"/>
              <a:t>• </a:t>
            </a:r>
            <a:r>
              <a:rPr lang="pl-PL" sz="2000" dirty="0" err="1"/>
              <a:t>Text</a:t>
            </a:r>
            <a:r>
              <a:rPr lang="pl-PL" sz="2000" dirty="0"/>
              <a:t> </a:t>
            </a:r>
            <a:r>
              <a:rPr lang="pl-PL" sz="2000" dirty="0" err="1"/>
              <a:t>descriptions</a:t>
            </a:r>
            <a:r>
              <a:rPr lang="pl-PL" sz="2000" dirty="0"/>
              <a:t> </a:t>
            </a:r>
            <a:r>
              <a:rPr lang="pl-PL" sz="2000" dirty="0" err="1"/>
              <a:t>contain</a:t>
            </a:r>
            <a:r>
              <a:rPr lang="pl-PL" sz="2000" dirty="0"/>
              <a:t> </a:t>
            </a:r>
            <a:r>
              <a:rPr lang="pl-PL" sz="2000" dirty="0" err="1"/>
              <a:t>useful</a:t>
            </a:r>
            <a:r>
              <a:rPr lang="pl-PL" sz="2000" dirty="0"/>
              <a:t> but </a:t>
            </a:r>
            <a:r>
              <a:rPr lang="pl-PL" sz="2000" dirty="0" err="1"/>
              <a:t>noisy</a:t>
            </a:r>
            <a:r>
              <a:rPr lang="pl-PL" sz="2000" dirty="0"/>
              <a:t> </a:t>
            </a:r>
            <a:r>
              <a:rPr lang="pl-PL" sz="2000" dirty="0" err="1"/>
              <a:t>signals</a:t>
            </a:r>
            <a:endParaRPr lang="pl-PL" sz="2000" dirty="0"/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7580FA32-A989-14A2-EB7A-0A001C36A51A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3. Exploratory Data Analysis</a:t>
            </a:r>
            <a:br>
              <a:rPr lang="en-US" sz="4000" dirty="0">
                <a:solidFill>
                  <a:srgbClr val="FFFFFF"/>
                </a:solidFill>
              </a:rPr>
            </a:b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4. Data Preprocessing</a:t>
            </a:r>
            <a:endParaRPr lang="pl-PL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085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D8E587-8515-DF29-F6D4-C8353191E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52023D-37C3-2E32-FCF1-9FEE3B8BF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187F9D-8B00-7043-202A-95F499BC4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0420D0-963D-E52D-0150-B97615BAD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2319C2-2348-DCAC-FEBD-C2947EDE4B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1145BF-ED67-73D9-495D-A7868A21F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5AED62D-BEC4-7228-DD47-D5705468E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B97529-D604-D2CE-08F8-94EA86FDD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6917B42-02C0-2980-7EF6-E2F834045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000" dirty="0" err="1"/>
              <a:t>Linear</a:t>
            </a:r>
            <a:r>
              <a:rPr lang="pl-PL" sz="2000" dirty="0"/>
              <a:t> </a:t>
            </a:r>
            <a:r>
              <a:rPr lang="pl-PL" sz="2000" dirty="0" err="1"/>
              <a:t>models</a:t>
            </a:r>
            <a:r>
              <a:rPr lang="pl-PL" sz="2000" dirty="0"/>
              <a:t> benefit from one-hot </a:t>
            </a:r>
            <a:r>
              <a:rPr lang="pl-PL" sz="2000" dirty="0" err="1"/>
              <a:t>encoding</a:t>
            </a:r>
            <a:r>
              <a:rPr lang="pl-PL" sz="2000" dirty="0"/>
              <a:t> </a:t>
            </a:r>
            <a:r>
              <a:rPr lang="pl-PL" sz="2000" dirty="0" err="1"/>
              <a:t>because</a:t>
            </a:r>
            <a:r>
              <a:rPr lang="pl-PL" sz="2000" dirty="0"/>
              <a:t> </a:t>
            </a:r>
            <a:r>
              <a:rPr lang="pl-PL" sz="2000" dirty="0" err="1"/>
              <a:t>they</a:t>
            </a:r>
            <a:r>
              <a:rPr lang="pl-PL" sz="2000" dirty="0"/>
              <a:t> </a:t>
            </a:r>
            <a:r>
              <a:rPr lang="pl-PL" sz="2000" dirty="0" err="1"/>
              <a:t>can</a:t>
            </a:r>
            <a:r>
              <a:rPr lang="pl-PL" sz="2000" dirty="0"/>
              <a:t> </a:t>
            </a:r>
            <a:r>
              <a:rPr lang="pl-PL" sz="2000" dirty="0" err="1"/>
              <a:t>learn</a:t>
            </a:r>
            <a:r>
              <a:rPr lang="pl-PL" sz="2000" dirty="0"/>
              <a:t> </a:t>
            </a:r>
            <a:r>
              <a:rPr lang="pl-PL" sz="2000" dirty="0" err="1"/>
              <a:t>separate</a:t>
            </a:r>
            <a:r>
              <a:rPr lang="pl-PL" sz="2000" dirty="0"/>
              <a:t> </a:t>
            </a:r>
            <a:r>
              <a:rPr lang="pl-PL" sz="2000" dirty="0" err="1"/>
              <a:t>coefficients</a:t>
            </a:r>
            <a:r>
              <a:rPr lang="pl-PL" sz="2000" dirty="0"/>
              <a:t> per </a:t>
            </a:r>
            <a:r>
              <a:rPr lang="pl-PL" sz="2000" dirty="0" err="1"/>
              <a:t>category</a:t>
            </a:r>
            <a:r>
              <a:rPr lang="pl-PL" sz="2000" dirty="0"/>
              <a:t>, and we </a:t>
            </a:r>
            <a:r>
              <a:rPr lang="pl-PL" sz="2000" dirty="0" err="1"/>
              <a:t>have</a:t>
            </a:r>
            <a:r>
              <a:rPr lang="pl-PL" sz="2000" dirty="0"/>
              <a:t> </a:t>
            </a:r>
            <a:r>
              <a:rPr lang="pl-PL" sz="2000" dirty="0" err="1"/>
              <a:t>shape</a:t>
            </a:r>
            <a:r>
              <a:rPr lang="pl-PL" sz="2000" dirty="0"/>
              <a:t> (206545, 792)</a:t>
            </a:r>
          </a:p>
          <a:p>
            <a:pPr marL="0" indent="0">
              <a:buNone/>
            </a:pPr>
            <a:endParaRPr lang="pl-PL" sz="2000" dirty="0"/>
          </a:p>
          <a:p>
            <a:pPr marL="0" indent="0">
              <a:buNone/>
            </a:pPr>
            <a:r>
              <a:rPr lang="pl-PL" sz="2000" dirty="0" err="1"/>
              <a:t>Tree</a:t>
            </a:r>
            <a:r>
              <a:rPr lang="pl-PL" sz="2000" dirty="0"/>
              <a:t> </a:t>
            </a:r>
            <a:r>
              <a:rPr lang="pl-PL" sz="2000" dirty="0" err="1"/>
              <a:t>models</a:t>
            </a:r>
            <a:r>
              <a:rPr lang="pl-PL" sz="2000" dirty="0"/>
              <a:t> </a:t>
            </a:r>
            <a:r>
              <a:rPr lang="pl-PL" sz="2000" dirty="0" err="1"/>
              <a:t>can</a:t>
            </a:r>
            <a:r>
              <a:rPr lang="pl-PL" sz="2000" dirty="0"/>
              <a:t> handle target-</a:t>
            </a:r>
            <a:r>
              <a:rPr lang="pl-PL" sz="2000" dirty="0" err="1"/>
              <a:t>encoded</a:t>
            </a:r>
            <a:r>
              <a:rPr lang="pl-PL" sz="2000" dirty="0"/>
              <a:t> </a:t>
            </a:r>
            <a:r>
              <a:rPr lang="pl-PL" sz="2000" dirty="0" err="1"/>
              <a:t>categories</a:t>
            </a:r>
            <a:r>
              <a:rPr lang="pl-PL" sz="2000" dirty="0"/>
              <a:t> </a:t>
            </a:r>
            <a:r>
              <a:rPr lang="pl-PL" sz="2000" dirty="0" err="1"/>
              <a:t>well</a:t>
            </a:r>
            <a:r>
              <a:rPr lang="pl-PL" sz="2000" dirty="0"/>
              <a:t> and </a:t>
            </a:r>
            <a:r>
              <a:rPr lang="pl-PL" sz="2000" dirty="0" err="1"/>
              <a:t>avoid</a:t>
            </a:r>
            <a:r>
              <a:rPr lang="pl-PL" sz="2000" dirty="0"/>
              <a:t> the high </a:t>
            </a:r>
            <a:r>
              <a:rPr lang="pl-PL" sz="2000" dirty="0" err="1"/>
              <a:t>dimensionality</a:t>
            </a:r>
            <a:r>
              <a:rPr lang="pl-PL" sz="2000" dirty="0"/>
              <a:t> of one-hot, and we </a:t>
            </a:r>
            <a:r>
              <a:rPr lang="pl-PL" sz="2000" dirty="0" err="1"/>
              <a:t>have</a:t>
            </a:r>
            <a:r>
              <a:rPr lang="pl-PL" sz="2000" dirty="0"/>
              <a:t> </a:t>
            </a:r>
            <a:r>
              <a:rPr lang="pl-PL" sz="2000" dirty="0" err="1"/>
              <a:t>shape</a:t>
            </a:r>
            <a:r>
              <a:rPr lang="pl-PL" sz="2000" dirty="0"/>
              <a:t> (206545, 122).</a:t>
            </a:r>
          </a:p>
          <a:p>
            <a:pPr marL="0" indent="0">
              <a:buNone/>
            </a:pPr>
            <a:endParaRPr lang="pl-PL" sz="2000" dirty="0"/>
          </a:p>
          <a:p>
            <a:pPr marL="0" indent="0">
              <a:buNone/>
            </a:pPr>
            <a:r>
              <a:rPr lang="pl-PL" sz="2000" dirty="0"/>
              <a:t>BART </a:t>
            </a:r>
            <a:r>
              <a:rPr lang="pl-PL" sz="2000" dirty="0" err="1"/>
              <a:t>models</a:t>
            </a:r>
            <a:r>
              <a:rPr lang="pl-PL" sz="2000" dirty="0"/>
              <a:t> </a:t>
            </a:r>
            <a:r>
              <a:rPr lang="pl-PL" sz="2000" dirty="0" err="1"/>
              <a:t>process</a:t>
            </a:r>
            <a:r>
              <a:rPr lang="pl-PL" sz="2000" dirty="0"/>
              <a:t> </a:t>
            </a:r>
            <a:r>
              <a:rPr lang="pl-PL" sz="2000" dirty="0" err="1"/>
              <a:t>text</a:t>
            </a:r>
            <a:r>
              <a:rPr lang="pl-PL" sz="2000" dirty="0"/>
              <a:t> </a:t>
            </a:r>
            <a:r>
              <a:rPr lang="pl-PL" sz="2000" dirty="0" err="1"/>
              <a:t>directly</a:t>
            </a:r>
            <a:r>
              <a:rPr lang="pl-PL" sz="2000" dirty="0"/>
              <a:t>, </a:t>
            </a:r>
            <a:r>
              <a:rPr lang="pl-PL" sz="2000" dirty="0" err="1"/>
              <a:t>so</a:t>
            </a:r>
            <a:r>
              <a:rPr lang="pl-PL" sz="2000" dirty="0"/>
              <a:t> </a:t>
            </a:r>
            <a:r>
              <a:rPr lang="pl-PL" sz="2000" dirty="0" err="1"/>
              <a:t>categorical</a:t>
            </a:r>
            <a:r>
              <a:rPr lang="pl-PL" sz="2000" dirty="0"/>
              <a:t> </a:t>
            </a:r>
            <a:r>
              <a:rPr lang="pl-PL" sz="2000" dirty="0" err="1"/>
              <a:t>features</a:t>
            </a:r>
            <a:r>
              <a:rPr lang="pl-PL" sz="2000" dirty="0"/>
              <a:t> </a:t>
            </a:r>
            <a:r>
              <a:rPr lang="pl-PL" sz="2000" dirty="0" err="1"/>
              <a:t>are</a:t>
            </a:r>
            <a:r>
              <a:rPr lang="pl-PL" sz="2000" dirty="0"/>
              <a:t> </a:t>
            </a:r>
            <a:r>
              <a:rPr lang="pl-PL" sz="2000" dirty="0" err="1"/>
              <a:t>kept</a:t>
            </a:r>
            <a:r>
              <a:rPr lang="pl-PL" sz="2000" dirty="0"/>
              <a:t> as </a:t>
            </a:r>
            <a:r>
              <a:rPr lang="pl-PL" sz="2000" dirty="0" err="1"/>
              <a:t>strings</a:t>
            </a:r>
            <a:r>
              <a:rPr lang="pl-PL" sz="2000" dirty="0"/>
              <a:t> </a:t>
            </a:r>
            <a:r>
              <a:rPr lang="pl-PL" sz="2000" dirty="0" err="1"/>
              <a:t>rather</a:t>
            </a:r>
            <a:r>
              <a:rPr lang="pl-PL" sz="2000" dirty="0"/>
              <a:t> </a:t>
            </a:r>
            <a:r>
              <a:rPr lang="pl-PL" sz="2000" dirty="0" err="1"/>
              <a:t>than</a:t>
            </a:r>
            <a:r>
              <a:rPr lang="pl-PL" sz="2000" dirty="0"/>
              <a:t> </a:t>
            </a:r>
            <a:r>
              <a:rPr lang="pl-PL" sz="2000" dirty="0" err="1"/>
              <a:t>encoded</a:t>
            </a:r>
            <a:r>
              <a:rPr lang="pl-PL" sz="2000" dirty="0"/>
              <a:t>, and we </a:t>
            </a:r>
            <a:r>
              <a:rPr lang="pl-PL" sz="2000" dirty="0" err="1"/>
              <a:t>have</a:t>
            </a:r>
            <a:r>
              <a:rPr lang="pl-PL" sz="2000" dirty="0"/>
              <a:t> </a:t>
            </a:r>
            <a:r>
              <a:rPr lang="pl-PL" sz="2000" dirty="0" err="1"/>
              <a:t>shape</a:t>
            </a:r>
            <a:r>
              <a:rPr lang="pl-PL" sz="2000" dirty="0"/>
              <a:t> (206545, 199). [No </a:t>
            </a:r>
            <a:r>
              <a:rPr lang="pl-PL" sz="2000" dirty="0" err="1"/>
              <a:t>dimension</a:t>
            </a:r>
            <a:r>
              <a:rPr lang="pl-PL" sz="2000" dirty="0"/>
              <a:t> </a:t>
            </a:r>
            <a:r>
              <a:rPr lang="pl-PL" sz="2000" dirty="0" err="1"/>
              <a:t>reduction</a:t>
            </a:r>
            <a:r>
              <a:rPr lang="pl-PL" sz="2000" dirty="0"/>
              <a:t> on </a:t>
            </a:r>
            <a:r>
              <a:rPr lang="pl-PL" sz="2000" dirty="0" err="1"/>
              <a:t>equipment</a:t>
            </a:r>
            <a:r>
              <a:rPr lang="pl-PL" sz="2000" dirty="0"/>
              <a:t>]</a:t>
            </a:r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BB0FC871-C219-6558-B004-885723BC2EFA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3. Exploratory Data Analysis</a:t>
            </a:r>
            <a:br>
              <a:rPr lang="en-US" sz="4000" dirty="0">
                <a:solidFill>
                  <a:srgbClr val="FFFFFF"/>
                </a:solidFill>
              </a:rPr>
            </a:b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4. Data Preprocessing</a:t>
            </a:r>
            <a:endParaRPr lang="pl-PL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322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BE54EB-6F9F-9712-E9E7-EE09DC053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7C08E4C-8B80-91A5-DE24-B5CB2CE9AC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A4D9F88-7635-2A38-6DB6-E00F17175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4CEAFF-C19E-9BA0-6ABE-F5194DB40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6DC7A9-F279-7793-242B-E05A99652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CAC24B-DFEC-3B0E-1830-1386321FE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6C9A7B4-41DE-3358-E08F-9E013311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F5A61F-5597-5CF7-6E6F-475F38DEE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8F3A49B-AB96-64B3-A5C9-7D87D2517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4184842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3. Exploratory Data Analysis</a:t>
            </a:r>
            <a:br>
              <a:rPr lang="en-US" sz="4000" dirty="0">
                <a:solidFill>
                  <a:srgbClr val="FFFFFF"/>
                </a:solidFill>
              </a:rPr>
            </a:b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4. Data Preprocessing</a:t>
            </a:r>
            <a:endParaRPr lang="pl-PL" sz="4000" dirty="0">
              <a:solidFill>
                <a:srgbClr val="FFFFFF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26C1F05-5ED9-23B2-6E61-57072C747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 fontScale="55000" lnSpcReduction="20000"/>
          </a:bodyPr>
          <a:lstStyle/>
          <a:p>
            <a:r>
              <a:rPr lang="pl-PL" b="1" dirty="0"/>
              <a:t># Data Collection and </a:t>
            </a:r>
            <a:r>
              <a:rPr lang="pl-PL" b="1" dirty="0" err="1"/>
              <a:t>Description</a:t>
            </a:r>
            <a:endParaRPr lang="pl-PL" dirty="0"/>
          </a:p>
          <a:p>
            <a:r>
              <a:rPr lang="pl-PL" dirty="0"/>
              <a:t>2-1.py - Web </a:t>
            </a:r>
            <a:r>
              <a:rPr lang="pl-PL" dirty="0" err="1"/>
              <a:t>scraping</a:t>
            </a:r>
            <a:r>
              <a:rPr lang="pl-PL" dirty="0"/>
              <a:t> </a:t>
            </a:r>
            <a:r>
              <a:rPr lang="pl-PL" dirty="0" err="1"/>
              <a:t>script</a:t>
            </a:r>
            <a:r>
              <a:rPr lang="pl-PL" dirty="0"/>
              <a:t> for </a:t>
            </a:r>
            <a:r>
              <a:rPr lang="pl-PL" dirty="0" err="1"/>
              <a:t>collecting</a:t>
            </a:r>
            <a:r>
              <a:rPr lang="pl-PL" dirty="0"/>
              <a:t> car listing </a:t>
            </a:r>
            <a:r>
              <a:rPr lang="pl-PL" dirty="0" err="1"/>
              <a:t>URLs</a:t>
            </a:r>
            <a:r>
              <a:rPr lang="pl-PL" dirty="0"/>
              <a:t> from </a:t>
            </a:r>
            <a:r>
              <a:rPr lang="pl-PL" dirty="0" err="1"/>
              <a:t>Otomoto.pl</a:t>
            </a:r>
            <a:r>
              <a:rPr lang="pl-PL" dirty="0"/>
              <a:t>. </a:t>
            </a:r>
            <a:r>
              <a:rPr lang="pl-PL" dirty="0" err="1"/>
              <a:t>Uses</a:t>
            </a:r>
            <a:r>
              <a:rPr lang="pl-PL" dirty="0"/>
              <a:t> </a:t>
            </a:r>
            <a:r>
              <a:rPr lang="pl-PL" dirty="0" err="1"/>
              <a:t>BeautifulSoup</a:t>
            </a:r>
            <a:r>
              <a:rPr lang="pl-PL" dirty="0"/>
              <a:t> to </a:t>
            </a:r>
            <a:r>
              <a:rPr lang="pl-PL" dirty="0" err="1"/>
              <a:t>extract</a:t>
            </a:r>
            <a:r>
              <a:rPr lang="pl-PL" dirty="0"/>
              <a:t> car listing </a:t>
            </a:r>
            <a:r>
              <a:rPr lang="pl-PL" dirty="0" err="1"/>
              <a:t>URLs</a:t>
            </a:r>
            <a:r>
              <a:rPr lang="pl-PL" dirty="0"/>
              <a:t> from </a:t>
            </a:r>
            <a:r>
              <a:rPr lang="pl-PL" dirty="0" err="1"/>
              <a:t>search</a:t>
            </a:r>
            <a:r>
              <a:rPr lang="pl-PL" dirty="0"/>
              <a:t> </a:t>
            </a:r>
            <a:r>
              <a:rPr lang="pl-PL" dirty="0" err="1"/>
              <a:t>result</a:t>
            </a:r>
            <a:r>
              <a:rPr lang="pl-PL" dirty="0"/>
              <a:t> </a:t>
            </a:r>
            <a:r>
              <a:rPr lang="pl-PL" dirty="0" err="1"/>
              <a:t>pages</a:t>
            </a:r>
            <a:r>
              <a:rPr lang="pl-PL" dirty="0"/>
              <a:t> with </a:t>
            </a:r>
            <a:r>
              <a:rPr lang="pl-PL" dirty="0" err="1"/>
              <a:t>progress</a:t>
            </a:r>
            <a:r>
              <a:rPr lang="pl-PL" dirty="0"/>
              <a:t> </a:t>
            </a:r>
            <a:r>
              <a:rPr lang="pl-PL" dirty="0" err="1"/>
              <a:t>tracking</a:t>
            </a:r>
            <a:r>
              <a:rPr lang="pl-PL" dirty="0"/>
              <a:t> and error </a:t>
            </a:r>
            <a:r>
              <a:rPr lang="pl-PL" dirty="0" err="1"/>
              <a:t>handling</a:t>
            </a:r>
            <a:r>
              <a:rPr lang="pl-PL" dirty="0"/>
              <a:t>.</a:t>
            </a:r>
          </a:p>
          <a:p>
            <a:r>
              <a:rPr lang="pl-PL" dirty="0"/>
              <a:t>2-2.py - URL </a:t>
            </a:r>
            <a:r>
              <a:rPr lang="pl-PL" dirty="0" err="1"/>
              <a:t>deduplication</a:t>
            </a:r>
            <a:r>
              <a:rPr lang="pl-PL" dirty="0"/>
              <a:t> </a:t>
            </a:r>
            <a:r>
              <a:rPr lang="pl-PL" dirty="0" err="1"/>
              <a:t>utility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removes</a:t>
            </a:r>
            <a:r>
              <a:rPr lang="pl-PL" dirty="0"/>
              <a:t> </a:t>
            </a:r>
            <a:r>
              <a:rPr lang="pl-PL" dirty="0" err="1"/>
              <a:t>duplicate</a:t>
            </a:r>
            <a:r>
              <a:rPr lang="pl-PL" dirty="0"/>
              <a:t> car listing </a:t>
            </a:r>
            <a:r>
              <a:rPr lang="pl-PL" dirty="0" err="1"/>
              <a:t>URLs</a:t>
            </a:r>
            <a:r>
              <a:rPr lang="pl-PL" dirty="0"/>
              <a:t> from the </a:t>
            </a:r>
            <a:r>
              <a:rPr lang="pl-PL" dirty="0" err="1"/>
              <a:t>scraped</a:t>
            </a:r>
            <a:r>
              <a:rPr lang="pl-PL" dirty="0"/>
              <a:t> data. </a:t>
            </a:r>
            <a:r>
              <a:rPr lang="pl-PL" dirty="0" err="1"/>
              <a:t>Reads</a:t>
            </a:r>
            <a:r>
              <a:rPr lang="pl-PL" dirty="0"/>
              <a:t> from </a:t>
            </a:r>
            <a:r>
              <a:rPr lang="pl-PL" dirty="0" err="1"/>
              <a:t>otomoto_car_urls.txt</a:t>
            </a:r>
            <a:r>
              <a:rPr lang="pl-PL" dirty="0"/>
              <a:t> and </a:t>
            </a:r>
            <a:r>
              <a:rPr lang="pl-PL" dirty="0" err="1"/>
              <a:t>outputs</a:t>
            </a:r>
            <a:r>
              <a:rPr lang="pl-PL" dirty="0"/>
              <a:t> </a:t>
            </a:r>
            <a:r>
              <a:rPr lang="pl-PL" dirty="0" err="1"/>
              <a:t>unique</a:t>
            </a:r>
            <a:r>
              <a:rPr lang="pl-PL" dirty="0"/>
              <a:t> </a:t>
            </a:r>
            <a:r>
              <a:rPr lang="pl-PL" dirty="0" err="1"/>
              <a:t>URLs</a:t>
            </a:r>
            <a:r>
              <a:rPr lang="pl-PL" dirty="0"/>
              <a:t> to </a:t>
            </a:r>
            <a:r>
              <a:rPr lang="pl-PL" dirty="0" err="1"/>
              <a:t>otomoto_car_urls_unique.txt</a:t>
            </a:r>
            <a:r>
              <a:rPr lang="pl-PL" dirty="0"/>
              <a:t>.</a:t>
            </a:r>
          </a:p>
          <a:p>
            <a:r>
              <a:rPr lang="pl-PL" dirty="0"/>
              <a:t>2-3.py - Car </a:t>
            </a:r>
            <a:r>
              <a:rPr lang="pl-PL" dirty="0" err="1"/>
              <a:t>details</a:t>
            </a:r>
            <a:r>
              <a:rPr lang="pl-PL" dirty="0"/>
              <a:t> </a:t>
            </a:r>
            <a:r>
              <a:rPr lang="pl-PL" dirty="0" err="1"/>
              <a:t>scraper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extracts</a:t>
            </a:r>
            <a:r>
              <a:rPr lang="pl-PL" dirty="0"/>
              <a:t> </a:t>
            </a:r>
            <a:r>
              <a:rPr lang="pl-PL" dirty="0" err="1"/>
              <a:t>detailed</a:t>
            </a:r>
            <a:r>
              <a:rPr lang="pl-PL" dirty="0"/>
              <a:t> </a:t>
            </a:r>
            <a:r>
              <a:rPr lang="pl-PL" dirty="0" err="1"/>
              <a:t>information</a:t>
            </a:r>
            <a:r>
              <a:rPr lang="pl-PL" dirty="0"/>
              <a:t> from </a:t>
            </a:r>
            <a:r>
              <a:rPr lang="pl-PL" dirty="0" err="1"/>
              <a:t>individual</a:t>
            </a:r>
            <a:r>
              <a:rPr lang="pl-PL" dirty="0"/>
              <a:t> car listing </a:t>
            </a:r>
            <a:r>
              <a:rPr lang="pl-PL" dirty="0" err="1"/>
              <a:t>pages</a:t>
            </a:r>
            <a:r>
              <a:rPr lang="pl-PL" dirty="0"/>
              <a:t>. </a:t>
            </a:r>
            <a:r>
              <a:rPr lang="pl-PL" dirty="0" err="1"/>
              <a:t>Processes</a:t>
            </a:r>
            <a:r>
              <a:rPr lang="pl-PL" dirty="0"/>
              <a:t> </a:t>
            </a:r>
            <a:r>
              <a:rPr lang="pl-PL" dirty="0" err="1"/>
              <a:t>URLs</a:t>
            </a:r>
            <a:r>
              <a:rPr lang="pl-PL" dirty="0"/>
              <a:t> from the </a:t>
            </a:r>
            <a:r>
              <a:rPr lang="pl-PL" dirty="0" err="1"/>
              <a:t>unique</a:t>
            </a:r>
            <a:r>
              <a:rPr lang="pl-PL" dirty="0"/>
              <a:t> list and </a:t>
            </a:r>
            <a:r>
              <a:rPr lang="pl-PL" dirty="0" err="1"/>
              <a:t>extracts</a:t>
            </a:r>
            <a:r>
              <a:rPr lang="pl-PL" dirty="0"/>
              <a:t> JSON data </a:t>
            </a:r>
            <a:r>
              <a:rPr lang="pl-PL" dirty="0" err="1"/>
              <a:t>containing</a:t>
            </a:r>
            <a:r>
              <a:rPr lang="pl-PL" dirty="0"/>
              <a:t> car </a:t>
            </a:r>
            <a:r>
              <a:rPr lang="pl-PL" dirty="0" err="1"/>
              <a:t>specifications</a:t>
            </a:r>
            <a:r>
              <a:rPr lang="pl-PL" dirty="0"/>
              <a:t>, </a:t>
            </a:r>
            <a:r>
              <a:rPr lang="pl-PL" dirty="0" err="1"/>
              <a:t>prices</a:t>
            </a:r>
            <a:r>
              <a:rPr lang="pl-PL" dirty="0"/>
              <a:t>, and </a:t>
            </a:r>
            <a:r>
              <a:rPr lang="pl-PL" dirty="0" err="1"/>
              <a:t>features</a:t>
            </a:r>
            <a:r>
              <a:rPr lang="pl-PL" dirty="0"/>
              <a:t> with </a:t>
            </a:r>
            <a:r>
              <a:rPr lang="pl-PL" dirty="0" err="1"/>
              <a:t>progress</a:t>
            </a:r>
            <a:r>
              <a:rPr lang="pl-PL" dirty="0"/>
              <a:t> </a:t>
            </a:r>
            <a:r>
              <a:rPr lang="pl-PL" dirty="0" err="1"/>
              <a:t>tracking</a:t>
            </a:r>
            <a:r>
              <a:rPr lang="pl-PL" dirty="0"/>
              <a:t>.</a:t>
            </a:r>
          </a:p>
          <a:p>
            <a:r>
              <a:rPr lang="pl-PL" dirty="0"/>
              <a:t>2-4.py - Data </a:t>
            </a:r>
            <a:r>
              <a:rPr lang="pl-PL" dirty="0" err="1"/>
              <a:t>preprocessing</a:t>
            </a:r>
            <a:r>
              <a:rPr lang="pl-PL" dirty="0"/>
              <a:t> and </a:t>
            </a:r>
            <a:r>
              <a:rPr lang="pl-PL" dirty="0" err="1"/>
              <a:t>cleaning</a:t>
            </a:r>
            <a:r>
              <a:rPr lang="pl-PL" dirty="0"/>
              <a:t> </a:t>
            </a:r>
            <a:r>
              <a:rPr lang="pl-PL" dirty="0" err="1"/>
              <a:t>pipeline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processes</a:t>
            </a:r>
            <a:r>
              <a:rPr lang="pl-PL" dirty="0"/>
              <a:t> the </a:t>
            </a:r>
            <a:r>
              <a:rPr lang="pl-PL" dirty="0" err="1"/>
              <a:t>raw</a:t>
            </a:r>
            <a:r>
              <a:rPr lang="pl-PL" dirty="0"/>
              <a:t> </a:t>
            </a:r>
            <a:r>
              <a:rPr lang="pl-PL" dirty="0" err="1"/>
              <a:t>scraped</a:t>
            </a:r>
            <a:r>
              <a:rPr lang="pl-PL" dirty="0"/>
              <a:t> car data. </a:t>
            </a:r>
            <a:r>
              <a:rPr lang="pl-PL" dirty="0" err="1"/>
              <a:t>Converts</a:t>
            </a:r>
            <a:r>
              <a:rPr lang="pl-PL" dirty="0"/>
              <a:t> JSON data to </a:t>
            </a:r>
            <a:r>
              <a:rPr lang="pl-PL" dirty="0" err="1"/>
              <a:t>structured</a:t>
            </a:r>
            <a:r>
              <a:rPr lang="pl-PL" dirty="0"/>
              <a:t> format, </a:t>
            </a:r>
            <a:r>
              <a:rPr lang="pl-PL" dirty="0" err="1"/>
              <a:t>handles</a:t>
            </a:r>
            <a:r>
              <a:rPr lang="pl-PL" dirty="0"/>
              <a:t> </a:t>
            </a:r>
            <a:r>
              <a:rPr lang="pl-PL" dirty="0" err="1"/>
              <a:t>currency</a:t>
            </a:r>
            <a:r>
              <a:rPr lang="pl-PL" dirty="0"/>
              <a:t> </a:t>
            </a:r>
            <a:r>
              <a:rPr lang="pl-PL" dirty="0" err="1"/>
              <a:t>conversion</a:t>
            </a:r>
            <a:r>
              <a:rPr lang="pl-PL" dirty="0"/>
              <a:t> (EUR to PLN), </a:t>
            </a:r>
            <a:r>
              <a:rPr lang="pl-PL" dirty="0" err="1"/>
              <a:t>filters</a:t>
            </a:r>
            <a:r>
              <a:rPr lang="pl-PL" dirty="0"/>
              <a:t> for </a:t>
            </a:r>
            <a:r>
              <a:rPr lang="pl-PL" dirty="0" err="1"/>
              <a:t>undamaged</a:t>
            </a:r>
            <a:r>
              <a:rPr lang="pl-PL" dirty="0"/>
              <a:t> </a:t>
            </a:r>
            <a:r>
              <a:rPr lang="pl-PL" dirty="0" err="1"/>
              <a:t>used</a:t>
            </a:r>
            <a:r>
              <a:rPr lang="pl-PL" dirty="0"/>
              <a:t> </a:t>
            </a:r>
            <a:r>
              <a:rPr lang="pl-PL" dirty="0" err="1"/>
              <a:t>vehicles</a:t>
            </a:r>
            <a:r>
              <a:rPr lang="pl-PL" dirty="0"/>
              <a:t>, </a:t>
            </a:r>
            <a:r>
              <a:rPr lang="pl-PL" dirty="0" err="1"/>
              <a:t>concatenates</a:t>
            </a:r>
            <a:r>
              <a:rPr lang="pl-PL" dirty="0"/>
              <a:t> </a:t>
            </a:r>
            <a:r>
              <a:rPr lang="pl-PL" dirty="0" err="1"/>
              <a:t>text</a:t>
            </a:r>
            <a:r>
              <a:rPr lang="pl-PL" dirty="0"/>
              <a:t> </a:t>
            </a:r>
            <a:r>
              <a:rPr lang="pl-PL" dirty="0" err="1"/>
              <a:t>fields</a:t>
            </a:r>
            <a:r>
              <a:rPr lang="pl-PL" dirty="0"/>
              <a:t>, and </a:t>
            </a:r>
            <a:r>
              <a:rPr lang="pl-PL" dirty="0" err="1"/>
              <a:t>prepares</a:t>
            </a:r>
            <a:r>
              <a:rPr lang="pl-PL" dirty="0"/>
              <a:t> data for modeling.</a:t>
            </a:r>
          </a:p>
          <a:p>
            <a:r>
              <a:rPr lang="pl-PL" dirty="0"/>
              <a:t>2-5.ipynb - </a:t>
            </a:r>
            <a:r>
              <a:rPr lang="pl-PL" dirty="0" err="1"/>
              <a:t>Initial</a:t>
            </a:r>
            <a:r>
              <a:rPr lang="pl-PL" dirty="0"/>
              <a:t> data </a:t>
            </a:r>
            <a:r>
              <a:rPr lang="pl-PL" dirty="0" err="1"/>
              <a:t>exploration</a:t>
            </a:r>
            <a:r>
              <a:rPr lang="pl-PL" dirty="0"/>
              <a:t> and </a:t>
            </a:r>
            <a:r>
              <a:rPr lang="pl-PL" dirty="0" err="1"/>
              <a:t>preprocessing</a:t>
            </a:r>
            <a:r>
              <a:rPr lang="pl-PL" dirty="0"/>
              <a:t> notebook. </a:t>
            </a:r>
            <a:r>
              <a:rPr lang="pl-PL" dirty="0" err="1"/>
              <a:t>Analyzes</a:t>
            </a:r>
            <a:r>
              <a:rPr lang="pl-PL" dirty="0"/>
              <a:t> the </a:t>
            </a:r>
            <a:r>
              <a:rPr lang="pl-PL" dirty="0" err="1"/>
              <a:t>parsed</a:t>
            </a:r>
            <a:r>
              <a:rPr lang="pl-PL" dirty="0"/>
              <a:t> car data, </a:t>
            </a:r>
            <a:r>
              <a:rPr lang="pl-PL" dirty="0" err="1"/>
              <a:t>converts</a:t>
            </a:r>
            <a:r>
              <a:rPr lang="pl-PL" dirty="0"/>
              <a:t> </a:t>
            </a:r>
            <a:r>
              <a:rPr lang="pl-PL" dirty="0" err="1"/>
              <a:t>boolean</a:t>
            </a:r>
            <a:r>
              <a:rPr lang="pl-PL" dirty="0"/>
              <a:t> </a:t>
            </a:r>
            <a:r>
              <a:rPr lang="pl-PL" dirty="0" err="1"/>
              <a:t>columns</a:t>
            </a:r>
            <a:r>
              <a:rPr lang="pl-PL" dirty="0"/>
              <a:t>, and </a:t>
            </a:r>
            <a:r>
              <a:rPr lang="pl-PL" dirty="0" err="1"/>
              <a:t>prepares</a:t>
            </a:r>
            <a:r>
              <a:rPr lang="pl-PL" dirty="0"/>
              <a:t> the </a:t>
            </a:r>
            <a:r>
              <a:rPr lang="pl-PL" dirty="0" err="1"/>
              <a:t>dataset</a:t>
            </a:r>
            <a:r>
              <a:rPr lang="pl-PL" dirty="0"/>
              <a:t> for </a:t>
            </a:r>
            <a:r>
              <a:rPr lang="pl-PL" dirty="0" err="1"/>
              <a:t>feature</a:t>
            </a:r>
            <a:r>
              <a:rPr lang="pl-PL" dirty="0"/>
              <a:t> engineering.</a:t>
            </a:r>
          </a:p>
          <a:p>
            <a:r>
              <a:rPr lang="pl-PL" dirty="0"/>
              <a:t>2-6.ipynb - </a:t>
            </a:r>
            <a:r>
              <a:rPr lang="pl-PL" dirty="0" err="1"/>
              <a:t>Feature</a:t>
            </a:r>
            <a:r>
              <a:rPr lang="pl-PL" dirty="0"/>
              <a:t> engineering and </a:t>
            </a:r>
            <a:r>
              <a:rPr lang="pl-PL" dirty="0" err="1"/>
              <a:t>text</a:t>
            </a:r>
            <a:r>
              <a:rPr lang="pl-PL" dirty="0"/>
              <a:t> </a:t>
            </a:r>
            <a:r>
              <a:rPr lang="pl-PL" dirty="0" err="1"/>
              <a:t>processing</a:t>
            </a:r>
            <a:r>
              <a:rPr lang="pl-PL" dirty="0"/>
              <a:t> notebook. </a:t>
            </a:r>
            <a:r>
              <a:rPr lang="pl-PL" dirty="0" err="1"/>
              <a:t>Creates</a:t>
            </a:r>
            <a:r>
              <a:rPr lang="pl-PL" dirty="0"/>
              <a:t> </a:t>
            </a:r>
            <a:r>
              <a:rPr lang="pl-PL" dirty="0" err="1"/>
              <a:t>embeddings</a:t>
            </a:r>
            <a:r>
              <a:rPr lang="pl-PL" dirty="0"/>
              <a:t> from car </a:t>
            </a:r>
            <a:r>
              <a:rPr lang="pl-PL" dirty="0" err="1"/>
              <a:t>descriptions</a:t>
            </a:r>
            <a:r>
              <a:rPr lang="pl-PL" dirty="0"/>
              <a:t>, </a:t>
            </a:r>
            <a:r>
              <a:rPr lang="pl-PL" dirty="0" err="1"/>
              <a:t>generates</a:t>
            </a:r>
            <a:r>
              <a:rPr lang="pl-PL" dirty="0"/>
              <a:t> PCA </a:t>
            </a:r>
            <a:r>
              <a:rPr lang="pl-PL" dirty="0" err="1"/>
              <a:t>components</a:t>
            </a:r>
            <a:r>
              <a:rPr lang="pl-PL" dirty="0"/>
              <a:t>, and </a:t>
            </a:r>
            <a:r>
              <a:rPr lang="pl-PL" dirty="0" err="1"/>
              <a:t>prepares</a:t>
            </a:r>
            <a:r>
              <a:rPr lang="pl-PL" dirty="0"/>
              <a:t> </a:t>
            </a:r>
            <a:r>
              <a:rPr lang="pl-PL" dirty="0" err="1"/>
              <a:t>multiple</a:t>
            </a:r>
            <a:r>
              <a:rPr lang="pl-PL" dirty="0"/>
              <a:t> </a:t>
            </a:r>
            <a:r>
              <a:rPr lang="pl-PL" dirty="0" err="1"/>
              <a:t>datasets</a:t>
            </a:r>
            <a:r>
              <a:rPr lang="pl-PL" dirty="0"/>
              <a:t> for </a:t>
            </a:r>
            <a:r>
              <a:rPr lang="pl-PL" dirty="0" err="1"/>
              <a:t>different</a:t>
            </a:r>
            <a:r>
              <a:rPr lang="pl-PL" dirty="0"/>
              <a:t> modeling </a:t>
            </a:r>
            <a:r>
              <a:rPr lang="pl-PL" dirty="0" err="1"/>
              <a:t>approaches</a:t>
            </a:r>
            <a:r>
              <a:rPr lang="pl-PL" dirty="0"/>
              <a:t>.</a:t>
            </a:r>
          </a:p>
          <a:p>
            <a:r>
              <a:rPr lang="pl-PL" dirty="0"/>
              <a:t>2-7.ipynb - Data </a:t>
            </a:r>
            <a:r>
              <a:rPr lang="pl-PL" dirty="0" err="1"/>
              <a:t>preparation</a:t>
            </a:r>
            <a:r>
              <a:rPr lang="pl-PL" dirty="0"/>
              <a:t> and cross-</a:t>
            </a:r>
            <a:r>
              <a:rPr lang="pl-PL" dirty="0" err="1"/>
              <a:t>validation</a:t>
            </a:r>
            <a:r>
              <a:rPr lang="pl-PL" dirty="0"/>
              <a:t> setup notebook. </a:t>
            </a:r>
            <a:r>
              <a:rPr lang="pl-PL" dirty="0" err="1"/>
              <a:t>Creates</a:t>
            </a:r>
            <a:r>
              <a:rPr lang="pl-PL" dirty="0"/>
              <a:t> </a:t>
            </a:r>
            <a:r>
              <a:rPr lang="pl-PL" dirty="0" err="1"/>
              <a:t>train</a:t>
            </a:r>
            <a:r>
              <a:rPr lang="pl-PL" dirty="0"/>
              <a:t>/test </a:t>
            </a:r>
            <a:r>
              <a:rPr lang="pl-PL" dirty="0" err="1"/>
              <a:t>splits</a:t>
            </a:r>
            <a:r>
              <a:rPr lang="pl-PL" dirty="0"/>
              <a:t> and </a:t>
            </a:r>
            <a:r>
              <a:rPr lang="pl-PL" dirty="0" err="1"/>
              <a:t>prepares</a:t>
            </a:r>
            <a:r>
              <a:rPr lang="pl-PL" dirty="0"/>
              <a:t> </a:t>
            </a:r>
            <a:r>
              <a:rPr lang="pl-PL" dirty="0" err="1"/>
              <a:t>datasets</a:t>
            </a:r>
            <a:r>
              <a:rPr lang="pl-PL" dirty="0"/>
              <a:t> for </a:t>
            </a:r>
            <a:r>
              <a:rPr lang="pl-PL" dirty="0" err="1"/>
              <a:t>LinearRegression</a:t>
            </a:r>
            <a:r>
              <a:rPr lang="pl-PL" dirty="0"/>
              <a:t>, </a:t>
            </a:r>
            <a:r>
              <a:rPr lang="pl-PL" dirty="0" err="1"/>
              <a:t>DecisionTree</a:t>
            </a:r>
            <a:r>
              <a:rPr lang="pl-PL" dirty="0"/>
              <a:t>, and BART </a:t>
            </a:r>
            <a:r>
              <a:rPr lang="pl-PL" dirty="0" err="1"/>
              <a:t>models</a:t>
            </a:r>
            <a:r>
              <a:rPr lang="pl-PL" dirty="0"/>
              <a:t>.</a:t>
            </a:r>
          </a:p>
          <a:p>
            <a:r>
              <a:rPr lang="pl-PL" dirty="0"/>
              <a:t>2-8.ipynb - Advanced </a:t>
            </a:r>
            <a:r>
              <a:rPr lang="pl-PL" dirty="0" err="1"/>
              <a:t>feature</a:t>
            </a:r>
            <a:r>
              <a:rPr lang="pl-PL" dirty="0"/>
              <a:t> engineering and </a:t>
            </a:r>
            <a:r>
              <a:rPr lang="pl-PL" dirty="0" err="1"/>
              <a:t>dataset</a:t>
            </a:r>
            <a:r>
              <a:rPr lang="pl-PL" dirty="0"/>
              <a:t> </a:t>
            </a:r>
            <a:r>
              <a:rPr lang="pl-PL" dirty="0" err="1"/>
              <a:t>creation</a:t>
            </a:r>
            <a:r>
              <a:rPr lang="pl-PL" dirty="0"/>
              <a:t> notebook. </a:t>
            </a:r>
            <a:r>
              <a:rPr lang="pl-PL" dirty="0" err="1"/>
              <a:t>Generates</a:t>
            </a:r>
            <a:r>
              <a:rPr lang="pl-PL" dirty="0"/>
              <a:t> </a:t>
            </a:r>
            <a:r>
              <a:rPr lang="pl-PL" dirty="0" err="1"/>
              <a:t>final</a:t>
            </a:r>
            <a:r>
              <a:rPr lang="pl-PL" dirty="0"/>
              <a:t> modeling </a:t>
            </a:r>
            <a:r>
              <a:rPr lang="pl-PL" dirty="0" err="1"/>
              <a:t>datasets</a:t>
            </a:r>
            <a:r>
              <a:rPr lang="pl-PL" dirty="0"/>
              <a:t> with </a:t>
            </a:r>
            <a:r>
              <a:rPr lang="pl-PL" dirty="0" err="1"/>
              <a:t>proper</a:t>
            </a:r>
            <a:r>
              <a:rPr lang="pl-PL" dirty="0"/>
              <a:t> cross-</a:t>
            </a:r>
            <a:r>
              <a:rPr lang="pl-PL" dirty="0" err="1"/>
              <a:t>validation</a:t>
            </a:r>
            <a:r>
              <a:rPr lang="pl-PL" dirty="0"/>
              <a:t> </a:t>
            </a:r>
            <a:r>
              <a:rPr lang="pl-PL" dirty="0" err="1"/>
              <a:t>folds</a:t>
            </a:r>
            <a:r>
              <a:rPr lang="pl-PL" dirty="0"/>
              <a:t> and </a:t>
            </a:r>
            <a:r>
              <a:rPr lang="pl-PL" dirty="0" err="1"/>
              <a:t>feature</a:t>
            </a:r>
            <a:r>
              <a:rPr lang="pl-PL" dirty="0"/>
              <a:t> </a:t>
            </a:r>
            <a:r>
              <a:rPr lang="pl-PL" dirty="0" err="1"/>
              <a:t>transformations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0892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1CE21B-D65A-4AE4-0A7A-C09BD99A0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E3B9BB-0885-C52E-D588-DE80DD8274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E8D9CC1-F653-FAEA-6704-60D7B39B2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08BB39-128E-C2D8-0DE1-1F702169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6823AE-81EE-EDF4-FF3C-820C1DF0D6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2E436F-A815-AF07-D08B-34D0FD3BC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19A6B82-5566-1134-A654-2E4C8BD5A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DBDDD1-22F1-8BD5-E5A7-645821116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20A2539-5CD6-A58C-8A06-ECD01EC02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5607006"/>
            <a:ext cx="6555347" cy="58852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000" b="1" dirty="0"/>
              <a:t>FILE: 3-1.ipynb</a:t>
            </a:r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FAA25219-C394-A9EC-9E67-6A1CB25E16A8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Baseline Model</a:t>
            </a:r>
          </a:p>
          <a:p>
            <a:pPr algn="r"/>
            <a:r>
              <a:rPr lang="en-US" sz="4000" dirty="0">
                <a:solidFill>
                  <a:srgbClr val="FFFFFF"/>
                </a:solidFill>
              </a:rPr>
              <a:t>(Linear and Regularized Regression Models)</a:t>
            </a:r>
            <a:endParaRPr lang="pl-PL" sz="4000" dirty="0">
              <a:solidFill>
                <a:srgbClr val="FFFFFF"/>
              </a:solidFill>
            </a:endParaRPr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E8F32684-9529-30FE-5182-7F036A013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732" y="2205611"/>
            <a:ext cx="7772400" cy="170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346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40D0F-06F8-1D78-E4D6-831FEDC92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794831E-D4A9-B188-4D15-62C1DB021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3521AE2-38BC-23CD-0F21-994FB7E9C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5F8337-59C9-8DC5-2243-B6D31B96D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7C4FD4-9723-5ED0-8C48-5490C0F4D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BEB0E1-ADCF-9544-8426-C5ACFBFA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3F8C56D-52B6-3C45-B656-04D9FEA42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0482E2-2469-FB58-F993-1487D9395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004A117-AADF-FC18-3F25-D253C7A4A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5607006"/>
            <a:ext cx="6555347" cy="58852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000" b="1" dirty="0"/>
              <a:t>FILE: 3-1.ipynb</a:t>
            </a:r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494FEB43-DFDC-DB21-6B71-B21010249B00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Baseline Model</a:t>
            </a:r>
          </a:p>
          <a:p>
            <a:pPr algn="r"/>
            <a:r>
              <a:rPr lang="en-US" sz="4000" dirty="0">
                <a:solidFill>
                  <a:srgbClr val="FFFFFF"/>
                </a:solidFill>
              </a:rPr>
              <a:t>(Linear and Regularized Regression Models)</a:t>
            </a:r>
            <a:endParaRPr lang="pl-PL" sz="4000" dirty="0">
              <a:solidFill>
                <a:srgbClr val="FFFFFF"/>
              </a:solidFill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7F707334-8AB4-3A03-A7DB-DF2CCBEC9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811" y="264953"/>
            <a:ext cx="7836313" cy="467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591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3BDC9-707A-E359-3AE2-2EFFB4FCB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6D6D07D-6681-BAEA-8C51-0F613B2D5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DE8441F-6994-4A21-5EF2-827842B89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6A5AD4-FCDE-0E02-6B65-2695D2AA1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420859-D641-7DF4-29A7-013E14985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17C53F-2A11-B406-522F-3673D43D3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4B8B75E-AE0A-044A-AF37-EADE21F9F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98CA7A-5C8F-C118-86ED-102D9744C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CD65967-6AF3-68FD-E7C5-BC6FBAC1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5607006"/>
            <a:ext cx="6555347" cy="58852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000" b="1" dirty="0"/>
              <a:t>FILE: 3-2.ipynb</a:t>
            </a:r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8D9E28DC-9458-18BF-2161-45D7C5F49F5F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Baseline Model</a:t>
            </a:r>
          </a:p>
          <a:p>
            <a:pPr algn="r"/>
            <a:r>
              <a:rPr lang="en-US" sz="4000" dirty="0">
                <a:solidFill>
                  <a:srgbClr val="FFFFFF"/>
                </a:solidFill>
              </a:rPr>
              <a:t>(Tree Ensembles for Structured Price Estimation )</a:t>
            </a:r>
            <a:endParaRPr lang="pl-PL" sz="4000" dirty="0">
              <a:solidFill>
                <a:srgbClr val="FFFFFF"/>
              </a:solidFill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B56FE864-6ABD-12EF-60EA-77A357853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732" y="1902788"/>
            <a:ext cx="7772400" cy="231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589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273AFF-179A-EF28-E611-38632855A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183C09-5348-58D8-F31E-1081BD9F4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38BD9C2-D4F1-237F-C298-7DB693E4E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14A7F8-6955-10F5-A769-AC93FB480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F4AE8A-AB23-F062-0309-FDBDF9AFF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36BBC4-8335-0FD0-5128-F4D496230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F965F21-04D8-7AC4-54BA-24F13CD41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0B1972-B25C-DACF-9458-DBD23DEFB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F718166-D27F-E635-96F9-E2387930D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5607006"/>
            <a:ext cx="6555347" cy="58852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000" b="1" dirty="0"/>
              <a:t>FILE: 3-2.ipynb</a:t>
            </a:r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953550F7-889D-6743-492D-32C975C6FBEB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Baseline Model</a:t>
            </a:r>
          </a:p>
          <a:p>
            <a:pPr algn="r"/>
            <a:r>
              <a:rPr lang="en-US" sz="4000" dirty="0">
                <a:solidFill>
                  <a:srgbClr val="FFFFFF"/>
                </a:solidFill>
              </a:rPr>
              <a:t>(Tree Ensembles for Structured Price Estimation )</a:t>
            </a:r>
            <a:endParaRPr lang="pl-PL" sz="4000" dirty="0">
              <a:solidFill>
                <a:srgbClr val="FFFFFF"/>
              </a:solidFill>
            </a:endParaRPr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E986F4D5-13E9-7232-371A-9FBE66F6A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810" y="511388"/>
            <a:ext cx="7751799" cy="462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508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148CF5-E21B-CF3A-D933-2CFB2DD1D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D1EBD3F-DFA2-2FB8-4416-B42116565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38F026-1B3C-07C3-62F2-9AD5C2724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256934-8C03-E854-9B7D-A869FD0DD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49974E-5791-4208-44A1-8A0604F1E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8FF72C-21AC-1083-A41D-B47AE279A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9ADA5B7-82FD-CB24-0DCA-C621FD339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E5F8CC-4DF7-4A32-8AB2-C0B644D41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1823F99-F6F2-D81D-7307-AAA228152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pl-PL" sz="2000" b="1" dirty="0" err="1"/>
              <a:t>Description</a:t>
            </a:r>
            <a:r>
              <a:rPr lang="pl-PL" sz="2000" b="1" dirty="0"/>
              <a:t>:</a:t>
            </a:r>
          </a:p>
          <a:p>
            <a:pPr marL="0" indent="0">
              <a:buNone/>
            </a:pPr>
            <a:r>
              <a:rPr lang="pl-PL" sz="2000" dirty="0"/>
              <a:t>A </a:t>
            </a:r>
            <a:r>
              <a:rPr lang="pl-PL" sz="2000" dirty="0" err="1"/>
              <a:t>minimal</a:t>
            </a:r>
            <a:r>
              <a:rPr lang="pl-PL" sz="2000" dirty="0"/>
              <a:t> </a:t>
            </a:r>
            <a:r>
              <a:rPr lang="pl-PL" sz="2000" dirty="0" err="1"/>
              <a:t>fully</a:t>
            </a:r>
            <a:r>
              <a:rPr lang="pl-PL" sz="2000" dirty="0"/>
              <a:t> </a:t>
            </a:r>
            <a:r>
              <a:rPr lang="pl-PL" sz="2000" dirty="0" err="1"/>
              <a:t>connected</a:t>
            </a:r>
            <a:r>
              <a:rPr lang="pl-PL" sz="2000" dirty="0"/>
              <a:t> </a:t>
            </a:r>
            <a:r>
              <a:rPr lang="pl-PL" sz="2000" dirty="0" err="1"/>
              <a:t>neural</a:t>
            </a:r>
            <a:r>
              <a:rPr lang="pl-PL" sz="2000" dirty="0"/>
              <a:t> network </a:t>
            </a:r>
            <a:r>
              <a:rPr lang="pl-PL" sz="2000" dirty="0" err="1"/>
              <a:t>trained</a:t>
            </a:r>
            <a:r>
              <a:rPr lang="pl-PL" sz="2000" dirty="0"/>
              <a:t> on </a:t>
            </a:r>
            <a:r>
              <a:rPr lang="pl-PL" sz="2000" dirty="0" err="1"/>
              <a:t>all</a:t>
            </a:r>
            <a:r>
              <a:rPr lang="pl-PL" sz="2000" dirty="0"/>
              <a:t> </a:t>
            </a:r>
            <a:r>
              <a:rPr lang="pl-PL" sz="2000" dirty="0" err="1"/>
              <a:t>structured</a:t>
            </a:r>
            <a:r>
              <a:rPr lang="pl-PL" sz="2000" dirty="0"/>
              <a:t> </a:t>
            </a:r>
            <a:r>
              <a:rPr lang="pl-PL" sz="2000" dirty="0" err="1"/>
              <a:t>features</a:t>
            </a:r>
            <a:r>
              <a:rPr lang="pl-PL" sz="2000" dirty="0"/>
              <a:t>. It </a:t>
            </a:r>
            <a:r>
              <a:rPr lang="pl-PL" sz="2000" dirty="0" err="1"/>
              <a:t>provides</a:t>
            </a:r>
            <a:r>
              <a:rPr lang="pl-PL" sz="2000" dirty="0"/>
              <a:t> a </a:t>
            </a:r>
            <a:r>
              <a:rPr lang="pl-PL" sz="2000" dirty="0" err="1"/>
              <a:t>simple</a:t>
            </a:r>
            <a:r>
              <a:rPr lang="pl-PL" sz="2000" dirty="0"/>
              <a:t> </a:t>
            </a:r>
            <a:r>
              <a:rPr lang="pl-PL" sz="2000" dirty="0" err="1"/>
              <a:t>nonlinear</a:t>
            </a:r>
            <a:r>
              <a:rPr lang="pl-PL" sz="2000" dirty="0"/>
              <a:t> benchmark and </a:t>
            </a:r>
            <a:r>
              <a:rPr lang="pl-PL" sz="2000" dirty="0" err="1"/>
              <a:t>captures</a:t>
            </a:r>
            <a:r>
              <a:rPr lang="pl-PL" sz="2000" dirty="0"/>
              <a:t> </a:t>
            </a:r>
            <a:r>
              <a:rPr lang="pl-PL" sz="2000" dirty="0" err="1"/>
              <a:t>basic</a:t>
            </a:r>
            <a:r>
              <a:rPr lang="pl-PL" sz="2000" dirty="0"/>
              <a:t> </a:t>
            </a:r>
            <a:r>
              <a:rPr lang="pl-PL" sz="2000" dirty="0" err="1"/>
              <a:t>interactions</a:t>
            </a:r>
            <a:r>
              <a:rPr lang="pl-PL" sz="2000" dirty="0"/>
              <a:t> </a:t>
            </a:r>
            <a:r>
              <a:rPr lang="pl-PL" sz="2000" dirty="0" err="1"/>
              <a:t>between</a:t>
            </a:r>
            <a:r>
              <a:rPr lang="pl-PL" sz="2000" dirty="0"/>
              <a:t> </a:t>
            </a:r>
            <a:r>
              <a:rPr lang="pl-PL" sz="2000" dirty="0" err="1"/>
              <a:t>variables</a:t>
            </a:r>
            <a:r>
              <a:rPr lang="pl-PL" sz="2000" dirty="0"/>
              <a:t> </a:t>
            </a:r>
            <a:r>
              <a:rPr lang="pl-PL" sz="2000" dirty="0" err="1"/>
              <a:t>such</a:t>
            </a:r>
            <a:r>
              <a:rPr lang="pl-PL" sz="2000" dirty="0"/>
              <a:t> as </a:t>
            </a:r>
            <a:r>
              <a:rPr lang="pl-PL" sz="2000" dirty="0" err="1"/>
              <a:t>mileage</a:t>
            </a:r>
            <a:r>
              <a:rPr lang="pl-PL" sz="2000" dirty="0"/>
              <a:t>, </a:t>
            </a:r>
            <a:r>
              <a:rPr lang="pl-PL" sz="2000" dirty="0" err="1"/>
              <a:t>age</a:t>
            </a:r>
            <a:r>
              <a:rPr lang="pl-PL" sz="2000" dirty="0"/>
              <a:t>, and </a:t>
            </a:r>
            <a:r>
              <a:rPr lang="pl-PL" sz="2000" dirty="0" err="1"/>
              <a:t>engine</a:t>
            </a:r>
            <a:r>
              <a:rPr lang="pl-PL" sz="2000" dirty="0"/>
              <a:t> </a:t>
            </a:r>
            <a:r>
              <a:rPr lang="pl-PL" sz="2000" dirty="0" err="1"/>
              <a:t>power</a:t>
            </a:r>
            <a:r>
              <a:rPr lang="pl-PL" sz="2000" dirty="0"/>
              <a:t>.</a:t>
            </a:r>
          </a:p>
          <a:p>
            <a:pPr marL="0" indent="0">
              <a:buNone/>
            </a:pPr>
            <a:r>
              <a:rPr lang="pl-PL" sz="2000" b="1" dirty="0"/>
              <a:t>Architecture (</a:t>
            </a:r>
            <a:r>
              <a:rPr lang="pl-PL" sz="2000" b="1" dirty="0" err="1"/>
              <a:t>summary</a:t>
            </a:r>
            <a:r>
              <a:rPr lang="pl-PL" sz="2000" b="1" dirty="0"/>
              <a:t>):</a:t>
            </a:r>
          </a:p>
          <a:p>
            <a:pPr marL="0" indent="0">
              <a:buNone/>
            </a:pPr>
            <a:r>
              <a:rPr lang="pl-PL" sz="2000" dirty="0"/>
              <a:t>• Input </a:t>
            </a:r>
            <a:r>
              <a:rPr lang="pl-PL" sz="2000" dirty="0" err="1"/>
              <a:t>layer</a:t>
            </a:r>
            <a:r>
              <a:rPr lang="pl-PL" sz="2000" dirty="0"/>
              <a:t> → one </a:t>
            </a:r>
            <a:r>
              <a:rPr lang="pl-PL" sz="2000" dirty="0" err="1"/>
              <a:t>hidden</a:t>
            </a:r>
            <a:r>
              <a:rPr lang="pl-PL" sz="2000" dirty="0"/>
              <a:t> </a:t>
            </a:r>
            <a:r>
              <a:rPr lang="pl-PL" sz="2000" dirty="0" err="1"/>
              <a:t>layer</a:t>
            </a:r>
            <a:r>
              <a:rPr lang="pl-PL" sz="2000" dirty="0"/>
              <a:t> (128 </a:t>
            </a:r>
            <a:r>
              <a:rPr lang="pl-PL" sz="2000" dirty="0" err="1"/>
              <a:t>units</a:t>
            </a:r>
            <a:r>
              <a:rPr lang="pl-PL" sz="2000" dirty="0"/>
              <a:t>) → </a:t>
            </a:r>
            <a:r>
              <a:rPr lang="pl-PL" sz="2000" dirty="0" err="1"/>
              <a:t>output</a:t>
            </a:r>
            <a:r>
              <a:rPr lang="pl-PL" sz="2000" dirty="0"/>
              <a:t> </a:t>
            </a:r>
            <a:r>
              <a:rPr lang="pl-PL" sz="2000" dirty="0" err="1"/>
              <a:t>layer</a:t>
            </a:r>
            <a:endParaRPr lang="pl-PL" sz="2000" dirty="0"/>
          </a:p>
          <a:p>
            <a:pPr marL="0" indent="0">
              <a:buNone/>
            </a:pPr>
            <a:r>
              <a:rPr lang="pl-PL" sz="2000" dirty="0"/>
              <a:t>• </a:t>
            </a:r>
            <a:r>
              <a:rPr lang="pl-PL" sz="2000" dirty="0" err="1"/>
              <a:t>Hidden</a:t>
            </a:r>
            <a:r>
              <a:rPr lang="pl-PL" sz="2000" dirty="0"/>
              <a:t> </a:t>
            </a:r>
            <a:r>
              <a:rPr lang="pl-PL" sz="2000" dirty="0" err="1"/>
              <a:t>layer</a:t>
            </a:r>
            <a:r>
              <a:rPr lang="pl-PL" sz="2000" dirty="0"/>
              <a:t> </a:t>
            </a:r>
            <a:r>
              <a:rPr lang="pl-PL" sz="2000" dirty="0" err="1"/>
              <a:t>uses</a:t>
            </a:r>
            <a:r>
              <a:rPr lang="pl-PL" sz="2000" dirty="0"/>
              <a:t> </a:t>
            </a:r>
            <a:r>
              <a:rPr lang="pl-PL" sz="2000" dirty="0" err="1"/>
              <a:t>Linear</a:t>
            </a:r>
            <a:r>
              <a:rPr lang="pl-PL" sz="2000" dirty="0"/>
              <a:t> → </a:t>
            </a:r>
            <a:r>
              <a:rPr lang="pl-PL" sz="2000" dirty="0" err="1"/>
              <a:t>ReLU</a:t>
            </a:r>
            <a:endParaRPr lang="pl-PL" sz="2000" dirty="0"/>
          </a:p>
          <a:p>
            <a:pPr marL="0" indent="0">
              <a:buNone/>
            </a:pPr>
            <a:r>
              <a:rPr lang="pl-PL" sz="2000" dirty="0"/>
              <a:t>• </a:t>
            </a:r>
            <a:r>
              <a:rPr lang="pl-PL" sz="2000" dirty="0" err="1"/>
              <a:t>Output</a:t>
            </a:r>
            <a:r>
              <a:rPr lang="pl-PL" sz="2000" dirty="0"/>
              <a:t>: single neuron </a:t>
            </a:r>
            <a:r>
              <a:rPr lang="pl-PL" sz="2000" dirty="0" err="1"/>
              <a:t>predicting</a:t>
            </a:r>
            <a:r>
              <a:rPr lang="pl-PL" sz="2000" dirty="0"/>
              <a:t> log-</a:t>
            </a:r>
            <a:r>
              <a:rPr lang="pl-PL" sz="2000" dirty="0" err="1"/>
              <a:t>price</a:t>
            </a:r>
            <a:endParaRPr lang="pl-PL" sz="2000" dirty="0"/>
          </a:p>
          <a:p>
            <a:pPr marL="0" indent="0">
              <a:buNone/>
            </a:pPr>
            <a:r>
              <a:rPr lang="pl-PL" sz="2000" b="1" dirty="0" err="1"/>
              <a:t>Why</a:t>
            </a:r>
            <a:r>
              <a:rPr lang="pl-PL" sz="2000" b="1" dirty="0"/>
              <a:t> </a:t>
            </a:r>
            <a:r>
              <a:rPr lang="pl-PL" sz="2000" b="1" dirty="0" err="1"/>
              <a:t>this</a:t>
            </a:r>
            <a:r>
              <a:rPr lang="pl-PL" sz="2000" b="1" dirty="0"/>
              <a:t> design:</a:t>
            </a:r>
          </a:p>
          <a:p>
            <a:pPr marL="0" indent="0">
              <a:buNone/>
            </a:pPr>
            <a:r>
              <a:rPr lang="pl-PL" sz="2000" dirty="0"/>
              <a:t>• </a:t>
            </a:r>
            <a:r>
              <a:rPr lang="pl-PL" sz="2000" dirty="0" err="1"/>
              <a:t>Very</a:t>
            </a:r>
            <a:r>
              <a:rPr lang="pl-PL" sz="2000" dirty="0"/>
              <a:t> </a:t>
            </a:r>
            <a:r>
              <a:rPr lang="pl-PL" sz="2000" dirty="0" err="1"/>
              <a:t>lightweight</a:t>
            </a:r>
            <a:r>
              <a:rPr lang="pl-PL" sz="2000" dirty="0"/>
              <a:t> and </a:t>
            </a:r>
            <a:r>
              <a:rPr lang="pl-PL" sz="2000" dirty="0" err="1"/>
              <a:t>easy</a:t>
            </a:r>
            <a:r>
              <a:rPr lang="pl-PL" sz="2000" dirty="0"/>
              <a:t> to </a:t>
            </a:r>
            <a:r>
              <a:rPr lang="pl-PL" sz="2000" dirty="0" err="1"/>
              <a:t>interpret</a:t>
            </a:r>
            <a:endParaRPr lang="pl-PL" sz="2000" dirty="0"/>
          </a:p>
          <a:p>
            <a:pPr marL="0" indent="0">
              <a:buNone/>
            </a:pPr>
            <a:r>
              <a:rPr lang="pl-PL" sz="2000" dirty="0"/>
              <a:t>• </a:t>
            </a:r>
            <a:r>
              <a:rPr lang="pl-PL" sz="2000" dirty="0" err="1"/>
              <a:t>ReLU</a:t>
            </a:r>
            <a:r>
              <a:rPr lang="pl-PL" sz="2000" dirty="0"/>
              <a:t> </a:t>
            </a:r>
            <a:r>
              <a:rPr lang="pl-PL" sz="2000" dirty="0" err="1"/>
              <a:t>introduces</a:t>
            </a:r>
            <a:r>
              <a:rPr lang="pl-PL" sz="2000" dirty="0"/>
              <a:t> </a:t>
            </a:r>
            <a:r>
              <a:rPr lang="pl-PL" sz="2000" dirty="0" err="1"/>
              <a:t>nonlinearity</a:t>
            </a:r>
            <a:r>
              <a:rPr lang="pl-PL" sz="2000" dirty="0"/>
              <a:t> </a:t>
            </a:r>
            <a:r>
              <a:rPr lang="pl-PL" sz="2000" dirty="0" err="1"/>
              <a:t>while</a:t>
            </a:r>
            <a:r>
              <a:rPr lang="pl-PL" sz="2000" dirty="0"/>
              <a:t> </a:t>
            </a:r>
            <a:r>
              <a:rPr lang="pl-PL" sz="2000" dirty="0" err="1"/>
              <a:t>keeping</a:t>
            </a:r>
            <a:r>
              <a:rPr lang="pl-PL" sz="2000" dirty="0"/>
              <a:t> </a:t>
            </a:r>
            <a:r>
              <a:rPr lang="pl-PL" sz="2000" dirty="0" err="1"/>
              <a:t>training</a:t>
            </a:r>
            <a:r>
              <a:rPr lang="pl-PL" sz="2000" dirty="0"/>
              <a:t> </a:t>
            </a:r>
            <a:r>
              <a:rPr lang="pl-PL" sz="2000" dirty="0" err="1"/>
              <a:t>stable</a:t>
            </a:r>
            <a:endParaRPr lang="pl-PL" sz="2000" dirty="0"/>
          </a:p>
          <a:p>
            <a:pPr marL="0" indent="0">
              <a:buNone/>
            </a:pPr>
            <a:r>
              <a:rPr lang="pl-PL" sz="2000" dirty="0"/>
              <a:t>• </a:t>
            </a:r>
            <a:r>
              <a:rPr lang="pl-PL" sz="2000" dirty="0" err="1"/>
              <a:t>Ideal</a:t>
            </a:r>
            <a:r>
              <a:rPr lang="pl-PL" sz="2000" dirty="0"/>
              <a:t> as a </a:t>
            </a:r>
            <a:r>
              <a:rPr lang="pl-PL" sz="2000" dirty="0" err="1"/>
              <a:t>baseline</a:t>
            </a:r>
            <a:r>
              <a:rPr lang="pl-PL" sz="2000" dirty="0"/>
              <a:t> to </a:t>
            </a:r>
            <a:r>
              <a:rPr lang="pl-PL" sz="2000" dirty="0" err="1"/>
              <a:t>compare</a:t>
            </a:r>
            <a:r>
              <a:rPr lang="pl-PL" sz="2000" dirty="0"/>
              <a:t> with </a:t>
            </a:r>
            <a:r>
              <a:rPr lang="pl-PL" sz="2000" dirty="0" err="1"/>
              <a:t>deeper</a:t>
            </a:r>
            <a:r>
              <a:rPr lang="pl-PL" sz="2000" dirty="0"/>
              <a:t> </a:t>
            </a:r>
            <a:r>
              <a:rPr lang="pl-PL" sz="2000" dirty="0" err="1"/>
              <a:t>or</a:t>
            </a:r>
            <a:r>
              <a:rPr lang="pl-PL" sz="2000" dirty="0"/>
              <a:t> </a:t>
            </a:r>
            <a:r>
              <a:rPr lang="pl-PL" sz="2000" dirty="0" err="1"/>
              <a:t>multimodal</a:t>
            </a:r>
            <a:r>
              <a:rPr lang="pl-PL" sz="2000" dirty="0"/>
              <a:t> </a:t>
            </a:r>
            <a:r>
              <a:rPr lang="pl-PL" sz="2000" dirty="0" err="1"/>
              <a:t>architectures</a:t>
            </a:r>
            <a:endParaRPr lang="pl-PL" sz="2000" dirty="0"/>
          </a:p>
          <a:p>
            <a:pPr marL="0" indent="0">
              <a:buNone/>
            </a:pPr>
            <a:r>
              <a:rPr lang="pl-PL" sz="2000" b="1" dirty="0"/>
              <a:t>Role in the </a:t>
            </a:r>
            <a:r>
              <a:rPr lang="pl-PL" sz="2000" b="1" dirty="0" err="1"/>
              <a:t>project</a:t>
            </a:r>
            <a:r>
              <a:rPr lang="pl-PL" sz="2000" b="1" dirty="0"/>
              <a:t>:</a:t>
            </a:r>
          </a:p>
          <a:p>
            <a:pPr marL="0" indent="0">
              <a:buNone/>
            </a:pPr>
            <a:r>
              <a:rPr lang="pl-PL" sz="2000" dirty="0" err="1"/>
              <a:t>Serves</a:t>
            </a:r>
            <a:r>
              <a:rPr lang="pl-PL" sz="2000" dirty="0"/>
              <a:t> as the </a:t>
            </a:r>
            <a:r>
              <a:rPr lang="pl-PL" sz="2000" dirty="0" err="1"/>
              <a:t>simplest</a:t>
            </a:r>
            <a:r>
              <a:rPr lang="pl-PL" sz="2000" dirty="0"/>
              <a:t> </a:t>
            </a:r>
            <a:r>
              <a:rPr lang="pl-PL" sz="2000" dirty="0" err="1"/>
              <a:t>neural</a:t>
            </a:r>
            <a:r>
              <a:rPr lang="pl-PL" sz="2000" dirty="0"/>
              <a:t> benchmark, </a:t>
            </a:r>
            <a:r>
              <a:rPr lang="pl-PL" sz="2000" dirty="0" err="1"/>
              <a:t>showing</a:t>
            </a:r>
            <a:r>
              <a:rPr lang="pl-PL" sz="2000" dirty="0"/>
              <a:t> </a:t>
            </a:r>
            <a:r>
              <a:rPr lang="pl-PL" sz="2000" dirty="0" err="1"/>
              <a:t>how</a:t>
            </a:r>
            <a:r>
              <a:rPr lang="pl-PL" sz="2000" dirty="0"/>
              <a:t> a </a:t>
            </a:r>
            <a:r>
              <a:rPr lang="pl-PL" sz="2000" dirty="0" err="1"/>
              <a:t>minimal</a:t>
            </a:r>
            <a:r>
              <a:rPr lang="pl-PL" sz="2000" dirty="0"/>
              <a:t> MLP </a:t>
            </a:r>
            <a:r>
              <a:rPr lang="pl-PL" sz="2000" dirty="0" err="1"/>
              <a:t>performs</a:t>
            </a:r>
            <a:r>
              <a:rPr lang="pl-PL" sz="2000" dirty="0"/>
              <a:t> </a:t>
            </a:r>
            <a:r>
              <a:rPr lang="pl-PL" sz="2000" dirty="0" err="1"/>
              <a:t>before</a:t>
            </a:r>
            <a:r>
              <a:rPr lang="pl-PL" sz="2000" dirty="0"/>
              <a:t> </a:t>
            </a:r>
            <a:r>
              <a:rPr lang="pl-PL" sz="2000" dirty="0" err="1"/>
              <a:t>introducing</a:t>
            </a:r>
            <a:r>
              <a:rPr lang="pl-PL" sz="2000" dirty="0"/>
              <a:t> </a:t>
            </a:r>
            <a:r>
              <a:rPr lang="pl-PL" sz="2000" dirty="0" err="1"/>
              <a:t>more</a:t>
            </a:r>
            <a:r>
              <a:rPr lang="pl-PL" sz="2000" dirty="0"/>
              <a:t> </a:t>
            </a:r>
            <a:r>
              <a:rPr lang="pl-PL" sz="2000" dirty="0" err="1"/>
              <a:t>advanced</a:t>
            </a:r>
            <a:r>
              <a:rPr lang="pl-PL" sz="2000" dirty="0"/>
              <a:t> </a:t>
            </a:r>
            <a:r>
              <a:rPr lang="pl-PL" sz="2000" dirty="0" err="1"/>
              <a:t>models</a:t>
            </a:r>
            <a:r>
              <a:rPr lang="pl-PL" sz="2000" dirty="0"/>
              <a:t>.</a:t>
            </a:r>
          </a:p>
          <a:p>
            <a:pPr marL="0" indent="0">
              <a:buNone/>
            </a:pPr>
            <a:r>
              <a:rPr lang="pl-PL" sz="2000" b="1" dirty="0"/>
              <a:t>FILE: 3-3-1.ipynb</a:t>
            </a:r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A09D88F0-AC4A-42AF-9608-1D2337A05E2A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Baseline Model</a:t>
            </a:r>
          </a:p>
          <a:p>
            <a:pPr algn="r"/>
            <a:r>
              <a:rPr lang="en-US" sz="4000" dirty="0">
                <a:solidFill>
                  <a:srgbClr val="FFFFFF"/>
                </a:solidFill>
              </a:rPr>
              <a:t>(Simple MLP)</a:t>
            </a:r>
            <a:endParaRPr lang="pl-PL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733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DCF8F3-8F93-8893-F372-88D86A5CB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0C7D24-5E57-3DD4-8847-F551B0F1F8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2C8A4FD-F17B-8034-A4DB-0B4E914F4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816A34-3BE6-19EF-2192-3E03F83B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807D95-21CC-4948-5D79-8D1C92392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3EF16E-5471-4BCC-705E-13B4B994A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0AFB843-2453-FD18-E443-37DEC90A03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470D8E-01AD-BEE4-B311-7DB992CDA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B1A39116-646A-3087-5397-BF9D564E1416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Baseline Model</a:t>
            </a:r>
          </a:p>
          <a:p>
            <a:pPr algn="r"/>
            <a:r>
              <a:rPr lang="en-US" sz="4000" dirty="0">
                <a:solidFill>
                  <a:srgbClr val="FFFFFF"/>
                </a:solidFill>
              </a:rPr>
              <a:t>(Simple MLP)</a:t>
            </a:r>
            <a:endParaRPr lang="pl-PL" sz="4000" dirty="0">
              <a:solidFill>
                <a:srgbClr val="FFFFFF"/>
              </a:solidFill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9EB20D0-3CD2-8685-A5E5-255D1B7F7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732" y="2182256"/>
            <a:ext cx="69596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16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E5C625-2A4C-985E-E7EC-653C3AE36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1BEE310-6A41-5B87-DDCD-88469AD82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7A4D125-B8BC-8081-1AFE-7DA5A0880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946783-5406-52EE-45BD-7F3C2B1DF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6778B-64AA-EF29-7772-33D7AB623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D99A10-6AB0-8358-6783-DAB4F3559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3352E41-4213-FBC3-2110-161B2D39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0BC7B6-BE74-100C-DCBA-558BB16C1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9BAC9AC8-6D1A-5ECC-1118-CA82A387AEA9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Baseline Model</a:t>
            </a:r>
          </a:p>
          <a:p>
            <a:pPr algn="r"/>
            <a:r>
              <a:rPr lang="en-US" sz="4000" dirty="0">
                <a:solidFill>
                  <a:srgbClr val="FFFFFF"/>
                </a:solidFill>
              </a:rPr>
              <a:t>(Simple MLP)</a:t>
            </a:r>
            <a:endParaRPr lang="pl-PL" sz="4000" dirty="0">
              <a:solidFill>
                <a:srgbClr val="FFFFFF"/>
              </a:solidFill>
            </a:endParaRPr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17634129-D706-D62D-5FF7-CA8B2030B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85" y="212018"/>
            <a:ext cx="7772400" cy="1195030"/>
          </a:xfrm>
          <a:prstGeom prst="rect">
            <a:avLst/>
          </a:prstGeom>
        </p:spPr>
      </p:pic>
      <p:pic>
        <p:nvPicPr>
          <p:cNvPr id="3" name="Obraz 2">
            <a:extLst>
              <a:ext uri="{FF2B5EF4-FFF2-40B4-BE49-F238E27FC236}">
                <a16:creationId xmlns:a16="http://schemas.microsoft.com/office/drawing/2014/main" id="{F426BD8C-4D19-11B6-FB25-86051B153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850" y="1619066"/>
            <a:ext cx="8115070" cy="484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815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96E966-FE69-02A3-D15B-813C9320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E28A379-AD60-5B20-2AE1-91E031611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640411E-1428-FD5A-582E-F13B0EA33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8B1B71-FD6E-8B95-2992-1F56A8A3C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B87CF-8EC4-A364-8691-3D4D273A9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B45DD9-D405-AF90-D912-D2CAE8F73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42DBBD7-DE6F-8BB2-AC51-41CA87194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CBAC10-0F5E-DED9-A0B2-4D67D3649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D6E9CF00-1D71-139B-E23D-5F3CD3D5BB3B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Baseline Model</a:t>
            </a:r>
          </a:p>
          <a:p>
            <a:pPr algn="r"/>
            <a:r>
              <a:rPr lang="en-US" sz="4000" dirty="0">
                <a:solidFill>
                  <a:srgbClr val="FFFFFF"/>
                </a:solidFill>
              </a:rPr>
              <a:t>(Simple MLP)</a:t>
            </a:r>
            <a:endParaRPr lang="pl-PL" sz="4000" dirty="0">
              <a:solidFill>
                <a:srgbClr val="FFFFFF"/>
              </a:solidFill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E1B35501-40B7-30BF-DA7A-CCB1F4CD8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498" y="956236"/>
            <a:ext cx="7944056" cy="474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87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FBC724-9F16-FFCC-6CFE-9B064104D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2D7091-A737-9317-A96C-34E6926E4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2428E7E-0BB6-B445-3F9E-832765116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40FAAB-E986-5215-1858-56BE7065C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8FFE52-B9EB-5DEF-3C81-61C8805F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309074-92BC-B663-EA1B-12878CEB0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9C631F4-0534-A496-8FCD-D46C864D8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19D0EC-71C8-9026-111D-A6D8163CF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93D8AB55-7C69-F8C4-B11D-869D97687FD8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Baseline Model</a:t>
            </a:r>
          </a:p>
          <a:p>
            <a:pPr algn="r"/>
            <a:r>
              <a:rPr lang="en-US" sz="4000" dirty="0">
                <a:solidFill>
                  <a:srgbClr val="FFFFFF"/>
                </a:solidFill>
              </a:rPr>
              <a:t>(Simple MLP)</a:t>
            </a:r>
            <a:endParaRPr lang="pl-PL" sz="4000" dirty="0">
              <a:solidFill>
                <a:srgbClr val="FFFFFF"/>
              </a:solidFill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EF1E874-9B40-AE18-3F68-B1E78A8BD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514" y="511388"/>
            <a:ext cx="5477308" cy="547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145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CEC129-79B3-0D5B-D7B3-A9BF6BC23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314A3B-26E6-0B95-8CE1-44F68E433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E34A64-D6A3-CB0C-E464-E51B53D0C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BA2CC0-E4AB-1922-E3B5-50E42035D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F4CD26-A32C-F2FB-D7F6-7964C0F86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50D13B-DC59-D93E-4D2B-97A7E2CD1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F8D0AD7-257E-2A80-1886-0D66CF5B5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F73E06-8676-D74E-92AA-33AC41F7D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27FF0EAE-60D1-EA14-C6FA-B504B3F9A3DF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Results of Previous Studies</a:t>
            </a:r>
            <a:endParaRPr lang="pl-PL" sz="4000" dirty="0">
              <a:solidFill>
                <a:srgbClr val="FFFFFF"/>
              </a:solidFill>
            </a:endParaRPr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72D38F9C-F4EB-A30B-09EE-F196A7858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695" y="432632"/>
            <a:ext cx="7772400" cy="2246644"/>
          </a:xfrm>
          <a:prstGeom prst="rect">
            <a:avLst/>
          </a:pr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C5936D20-3DF6-2460-F679-6D03AF636CA3}"/>
              </a:ext>
            </a:extLst>
          </p:cNvPr>
          <p:cNvSpPr txBox="1"/>
          <p:nvPr/>
        </p:nvSpPr>
        <p:spPr>
          <a:xfrm>
            <a:off x="4318838" y="2679276"/>
            <a:ext cx="64980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err="1"/>
              <a:t>Isaev</a:t>
            </a:r>
            <a:r>
              <a:rPr lang="pl-PL" dirty="0"/>
              <a:t>, R., </a:t>
            </a:r>
            <a:r>
              <a:rPr lang="pl-PL" dirty="0" err="1"/>
              <a:t>Nuradilova</a:t>
            </a:r>
            <a:r>
              <a:rPr lang="pl-PL" dirty="0"/>
              <a:t>, B., &amp; </a:t>
            </a:r>
            <a:r>
              <a:rPr lang="pl-PL" dirty="0" err="1"/>
              <a:t>Gimaletdinova</a:t>
            </a:r>
            <a:r>
              <a:rPr lang="pl-PL" dirty="0"/>
              <a:t>, G. (2024). </a:t>
            </a:r>
          </a:p>
          <a:p>
            <a:r>
              <a:rPr lang="pl-PL" i="1" dirty="0" err="1"/>
              <a:t>Predicting</a:t>
            </a:r>
            <a:r>
              <a:rPr lang="pl-PL" i="1" dirty="0"/>
              <a:t> </a:t>
            </a:r>
            <a:r>
              <a:rPr lang="pl-PL" i="1" dirty="0" err="1"/>
              <a:t>Passenger</a:t>
            </a:r>
            <a:r>
              <a:rPr lang="pl-PL" i="1" dirty="0"/>
              <a:t> Car </a:t>
            </a:r>
            <a:r>
              <a:rPr lang="pl-PL" i="1" dirty="0" err="1"/>
              <a:t>Prices</a:t>
            </a:r>
            <a:r>
              <a:rPr lang="pl-PL" i="1" dirty="0"/>
              <a:t> with Machine Learning </a:t>
            </a:r>
            <a:r>
              <a:rPr lang="pl-PL" i="1" dirty="0" err="1"/>
              <a:t>Models</a:t>
            </a:r>
            <a:r>
              <a:rPr lang="pl-PL" dirty="0"/>
              <a:t>. 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25F4D3A7-8D4F-ECE1-1FEF-1753DD441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185" y="3439139"/>
            <a:ext cx="7655814" cy="1493968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0EA0DE2E-B8C5-583F-BFC0-EA3AE9857B64}"/>
              </a:ext>
            </a:extLst>
          </p:cNvPr>
          <p:cNvSpPr txBox="1"/>
          <p:nvPr/>
        </p:nvSpPr>
        <p:spPr>
          <a:xfrm>
            <a:off x="4227185" y="5254054"/>
            <a:ext cx="76558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Kan, D., </a:t>
            </a:r>
            <a:r>
              <a:rPr lang="pl-PL" dirty="0" err="1"/>
              <a:t>Jiang</a:t>
            </a:r>
            <a:r>
              <a:rPr lang="pl-PL" dirty="0"/>
              <a:t>, L., </a:t>
            </a:r>
            <a:r>
              <a:rPr lang="pl-PL" dirty="0" err="1"/>
              <a:t>Liu</a:t>
            </a:r>
            <a:r>
              <a:rPr lang="pl-PL" dirty="0"/>
              <a:t>, C., Yang, Z., &amp; Song, D. (2023).</a:t>
            </a:r>
          </a:p>
          <a:p>
            <a:r>
              <a:rPr lang="pl-PL" i="1" dirty="0" err="1"/>
              <a:t>Prediction</a:t>
            </a:r>
            <a:r>
              <a:rPr lang="pl-PL" i="1" dirty="0"/>
              <a:t> of </a:t>
            </a:r>
            <a:r>
              <a:rPr lang="pl-PL" i="1" dirty="0" err="1"/>
              <a:t>used</a:t>
            </a:r>
            <a:r>
              <a:rPr lang="pl-PL" i="1" dirty="0"/>
              <a:t> car </a:t>
            </a:r>
            <a:r>
              <a:rPr lang="pl-PL" i="1" dirty="0" err="1"/>
              <a:t>prices</a:t>
            </a:r>
            <a:r>
              <a:rPr lang="pl-PL" i="1" dirty="0"/>
              <a:t> </a:t>
            </a:r>
            <a:r>
              <a:rPr lang="pl-PL" i="1" dirty="0" err="1"/>
              <a:t>using</a:t>
            </a:r>
            <a:r>
              <a:rPr lang="pl-PL" i="1" dirty="0"/>
              <a:t> </a:t>
            </a:r>
            <a:r>
              <a:rPr lang="pl-PL" i="1" dirty="0" err="1"/>
              <a:t>back</a:t>
            </a:r>
            <a:r>
              <a:rPr lang="pl-PL" i="1" dirty="0"/>
              <a:t> </a:t>
            </a:r>
            <a:r>
              <a:rPr lang="pl-PL" i="1" dirty="0" err="1"/>
              <a:t>propagation</a:t>
            </a:r>
            <a:r>
              <a:rPr lang="pl-PL" i="1" dirty="0"/>
              <a:t> </a:t>
            </a:r>
            <a:r>
              <a:rPr lang="pl-PL" i="1" dirty="0" err="1"/>
              <a:t>neural</a:t>
            </a:r>
            <a:r>
              <a:rPr lang="pl-PL" i="1" dirty="0"/>
              <a:t> network model </a:t>
            </a:r>
          </a:p>
          <a:p>
            <a:r>
              <a:rPr lang="pl-PL" i="1" dirty="0" err="1"/>
              <a:t>based</a:t>
            </a:r>
            <a:r>
              <a:rPr lang="pl-PL" i="1" dirty="0"/>
              <a:t> on </a:t>
            </a:r>
            <a:r>
              <a:rPr lang="pl-PL" i="1" dirty="0" err="1"/>
              <a:t>mean</a:t>
            </a:r>
            <a:r>
              <a:rPr lang="pl-PL" i="1" dirty="0"/>
              <a:t> </a:t>
            </a:r>
            <a:r>
              <a:rPr lang="pl-PL" i="1" dirty="0" err="1"/>
              <a:t>encoding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1109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9EF0FC-0D34-D863-83D1-0F39C1995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36F9DB-4370-054C-2023-DA13595E6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8960D16-757E-3D06-7AFA-726AF01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11DD6-2866-5EA6-BF64-05185AAFD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D3A99D-CA32-1299-928A-74067B78D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DA2FF2-94A8-CB0F-A4D3-41AA386D3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9C0B5D1-E425-1D55-2915-2B3BAC3B3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8AD2D4-EC9C-B96B-8756-EDDBE2ECD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E010B435-06CD-A941-B031-21DB4D35BF27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Results of Previous Studies</a:t>
            </a:r>
            <a:endParaRPr lang="pl-PL" sz="4000" dirty="0">
              <a:solidFill>
                <a:srgbClr val="FFFFFF"/>
              </a:solidFill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1F8212E-9C2A-E5DB-2ADD-386338ECD0D1}"/>
              </a:ext>
            </a:extLst>
          </p:cNvPr>
          <p:cNvSpPr txBox="1"/>
          <p:nvPr/>
        </p:nvSpPr>
        <p:spPr>
          <a:xfrm>
            <a:off x="4367695" y="1615826"/>
            <a:ext cx="71299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err="1"/>
              <a:t>Bukvić</a:t>
            </a:r>
            <a:r>
              <a:rPr lang="pl-PL" dirty="0"/>
              <a:t>, L., </a:t>
            </a:r>
            <a:r>
              <a:rPr lang="pl-PL" dirty="0" err="1"/>
              <a:t>Pašagić</a:t>
            </a:r>
            <a:r>
              <a:rPr lang="pl-PL" dirty="0"/>
              <a:t> </a:t>
            </a:r>
            <a:r>
              <a:rPr lang="pl-PL" dirty="0" err="1"/>
              <a:t>Škrinjar</a:t>
            </a:r>
            <a:r>
              <a:rPr lang="pl-PL" dirty="0"/>
              <a:t>, J., </a:t>
            </a:r>
            <a:r>
              <a:rPr lang="pl-PL" dirty="0" err="1"/>
              <a:t>Fratrović</a:t>
            </a:r>
            <a:r>
              <a:rPr lang="pl-PL" dirty="0"/>
              <a:t>, T., &amp; </a:t>
            </a:r>
            <a:r>
              <a:rPr lang="pl-PL" dirty="0" err="1"/>
              <a:t>Abramović</a:t>
            </a:r>
            <a:r>
              <a:rPr lang="pl-PL" dirty="0"/>
              <a:t>, B. (2022). </a:t>
            </a:r>
          </a:p>
          <a:p>
            <a:r>
              <a:rPr lang="pl-PL" dirty="0" err="1"/>
              <a:t>Price</a:t>
            </a:r>
            <a:r>
              <a:rPr lang="pl-PL" dirty="0"/>
              <a:t> </a:t>
            </a:r>
            <a:r>
              <a:rPr lang="pl-PL" dirty="0" err="1"/>
              <a:t>Prediction</a:t>
            </a:r>
            <a:r>
              <a:rPr lang="pl-PL" dirty="0"/>
              <a:t> and </a:t>
            </a:r>
            <a:r>
              <a:rPr lang="pl-PL" dirty="0" err="1"/>
              <a:t>Classification</a:t>
            </a:r>
            <a:r>
              <a:rPr lang="pl-PL" dirty="0"/>
              <a:t> of </a:t>
            </a:r>
            <a:r>
              <a:rPr lang="pl-PL" dirty="0" err="1"/>
              <a:t>Used-Vehicles</a:t>
            </a:r>
            <a:r>
              <a:rPr lang="pl-PL" dirty="0"/>
              <a:t> Using </a:t>
            </a:r>
            <a:r>
              <a:rPr lang="pl-PL" dirty="0" err="1"/>
              <a:t>Supervised</a:t>
            </a:r>
            <a:r>
              <a:rPr lang="pl-PL" dirty="0"/>
              <a:t> </a:t>
            </a:r>
          </a:p>
          <a:p>
            <a:r>
              <a:rPr lang="pl-PL" dirty="0"/>
              <a:t>Machine Learning. </a:t>
            </a:r>
            <a:r>
              <a:rPr lang="pl-PL" i="1" dirty="0" err="1"/>
              <a:t>Sustainability</a:t>
            </a:r>
            <a:r>
              <a:rPr lang="pl-PL" i="1" dirty="0"/>
              <a:t> (</a:t>
            </a:r>
            <a:r>
              <a:rPr lang="pl-PL" i="1" dirty="0" err="1"/>
              <a:t>Switzerland</a:t>
            </a:r>
            <a:r>
              <a:rPr lang="pl-PL" i="1" dirty="0"/>
              <a:t>)</a:t>
            </a:r>
            <a:r>
              <a:rPr lang="pl-PL" dirty="0"/>
              <a:t>, </a:t>
            </a:r>
            <a:r>
              <a:rPr lang="pl-PL" i="1" dirty="0"/>
              <a:t>14</a:t>
            </a:r>
            <a:r>
              <a:rPr lang="pl-PL" dirty="0"/>
              <a:t>(24). 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D7AB0124-CC7D-A661-18B0-77B1012732D9}"/>
              </a:ext>
            </a:extLst>
          </p:cNvPr>
          <p:cNvSpPr txBox="1"/>
          <p:nvPr/>
        </p:nvSpPr>
        <p:spPr>
          <a:xfrm>
            <a:off x="4267968" y="3990217"/>
            <a:ext cx="76861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err="1"/>
              <a:t>Liu</a:t>
            </a:r>
            <a:r>
              <a:rPr lang="pl-PL" dirty="0"/>
              <a:t>, E., Li, J., </a:t>
            </a:r>
            <a:r>
              <a:rPr lang="pl-PL" dirty="0" err="1"/>
              <a:t>Zheng</a:t>
            </a:r>
            <a:r>
              <a:rPr lang="pl-PL" dirty="0"/>
              <a:t>, A., </a:t>
            </a:r>
            <a:r>
              <a:rPr lang="pl-PL" dirty="0" err="1"/>
              <a:t>Liu</a:t>
            </a:r>
            <a:r>
              <a:rPr lang="pl-PL" dirty="0"/>
              <a:t>, H., &amp; </a:t>
            </a:r>
            <a:r>
              <a:rPr lang="pl-PL" dirty="0" err="1"/>
              <a:t>Jiang</a:t>
            </a:r>
            <a:r>
              <a:rPr lang="pl-PL" dirty="0"/>
              <a:t>, T. (2022). </a:t>
            </a:r>
            <a:r>
              <a:rPr lang="pl-PL" dirty="0" err="1"/>
              <a:t>Research</a:t>
            </a:r>
            <a:r>
              <a:rPr lang="pl-PL" dirty="0"/>
              <a:t> on the </a:t>
            </a:r>
            <a:r>
              <a:rPr lang="pl-PL" dirty="0" err="1"/>
              <a:t>Prediction</a:t>
            </a:r>
            <a:r>
              <a:rPr lang="pl-PL" dirty="0"/>
              <a:t> </a:t>
            </a:r>
          </a:p>
          <a:p>
            <a:r>
              <a:rPr lang="pl-PL" dirty="0"/>
              <a:t>Model of the </a:t>
            </a:r>
            <a:r>
              <a:rPr lang="pl-PL" dirty="0" err="1"/>
              <a:t>Used</a:t>
            </a:r>
            <a:r>
              <a:rPr lang="pl-PL" dirty="0"/>
              <a:t> Car </a:t>
            </a:r>
            <a:r>
              <a:rPr lang="pl-PL" dirty="0" err="1"/>
              <a:t>Price</a:t>
            </a:r>
            <a:r>
              <a:rPr lang="pl-PL" dirty="0"/>
              <a:t> in </a:t>
            </a:r>
            <a:r>
              <a:rPr lang="pl-PL" dirty="0" err="1"/>
              <a:t>View</a:t>
            </a:r>
            <a:r>
              <a:rPr lang="pl-PL" dirty="0"/>
              <a:t> of the PSO-GRA-BP </a:t>
            </a:r>
            <a:r>
              <a:rPr lang="pl-PL" dirty="0" err="1"/>
              <a:t>Neural</a:t>
            </a:r>
            <a:r>
              <a:rPr lang="pl-PL" dirty="0"/>
              <a:t> Network. </a:t>
            </a:r>
          </a:p>
          <a:p>
            <a:r>
              <a:rPr lang="pl-PL" i="1" dirty="0" err="1"/>
              <a:t>Sustainability</a:t>
            </a:r>
            <a:r>
              <a:rPr lang="pl-PL" i="1" dirty="0"/>
              <a:t> (</a:t>
            </a:r>
            <a:r>
              <a:rPr lang="pl-PL" i="1" dirty="0" err="1"/>
              <a:t>Switzerland</a:t>
            </a:r>
            <a:r>
              <a:rPr lang="pl-PL" i="1" dirty="0"/>
              <a:t>)</a:t>
            </a:r>
            <a:r>
              <a:rPr lang="pl-PL" dirty="0"/>
              <a:t>, </a:t>
            </a:r>
            <a:r>
              <a:rPr lang="pl-PL" i="1" dirty="0"/>
              <a:t>14</a:t>
            </a:r>
            <a:r>
              <a:rPr lang="pl-PL" dirty="0"/>
              <a:t>(15). 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EF34B724-8B9A-2353-25CB-5D3457936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968" y="298053"/>
            <a:ext cx="7772400" cy="1341120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78AF3B76-C760-87AD-B3C8-E941A12C3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968" y="2679276"/>
            <a:ext cx="7772400" cy="117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879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F6EFB8-1CBF-006D-1531-1CD5266BF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A07C0CF-C4C4-CBF9-5679-228CA39F3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28D0E9-6454-2A13-8334-490EB6791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BAC976-6870-094A-38A3-056B1FBAD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CFF94F-59D8-C657-8559-B00C5DBE1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99B8D-201C-FF49-691A-7599DBAA5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A51565-1B20-E0B7-0F8F-E17D4A331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EC364B-02F1-4B1E-CC26-FF9825CD3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C17962D2-774E-313D-A1E4-A84BC1B927D4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Results of Previous Studies</a:t>
            </a:r>
            <a:endParaRPr lang="pl-PL" sz="4000" dirty="0">
              <a:solidFill>
                <a:srgbClr val="FFFFFF"/>
              </a:solidFill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9D5C34E-0D72-99CF-4C12-7679FF8684CB}"/>
              </a:ext>
            </a:extLst>
          </p:cNvPr>
          <p:cNvSpPr txBox="1"/>
          <p:nvPr/>
        </p:nvSpPr>
        <p:spPr>
          <a:xfrm>
            <a:off x="4367695" y="1615826"/>
            <a:ext cx="78770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Tanga, Y. M. P., </a:t>
            </a:r>
            <a:r>
              <a:rPr lang="pl-PL" dirty="0" err="1"/>
              <a:t>Simanjuntak</a:t>
            </a:r>
            <a:r>
              <a:rPr lang="pl-PL" dirty="0"/>
              <a:t>, R. P. R., </a:t>
            </a:r>
            <a:r>
              <a:rPr lang="pl-PL" dirty="0" err="1"/>
              <a:t>Rofik</a:t>
            </a:r>
            <a:r>
              <a:rPr lang="pl-PL" dirty="0"/>
              <a:t>, R., &amp; </a:t>
            </a:r>
            <a:r>
              <a:rPr lang="pl-PL" dirty="0" err="1"/>
              <a:t>Muslim</a:t>
            </a:r>
            <a:r>
              <a:rPr lang="pl-PL" dirty="0"/>
              <a:t>, M. A. (2024). </a:t>
            </a:r>
          </a:p>
          <a:p>
            <a:r>
              <a:rPr lang="pl-PL" dirty="0" err="1"/>
              <a:t>Improving</a:t>
            </a:r>
            <a:r>
              <a:rPr lang="pl-PL" dirty="0"/>
              <a:t> car </a:t>
            </a:r>
            <a:r>
              <a:rPr lang="pl-PL" dirty="0" err="1"/>
              <a:t>price</a:t>
            </a:r>
            <a:r>
              <a:rPr lang="pl-PL" dirty="0"/>
              <a:t> </a:t>
            </a:r>
            <a:r>
              <a:rPr lang="pl-PL" dirty="0" err="1"/>
              <a:t>prediction</a:t>
            </a:r>
            <a:r>
              <a:rPr lang="pl-PL" dirty="0"/>
              <a:t> performance </a:t>
            </a:r>
            <a:r>
              <a:rPr lang="pl-PL" dirty="0" err="1"/>
              <a:t>using</a:t>
            </a:r>
            <a:r>
              <a:rPr lang="pl-PL" dirty="0"/>
              <a:t> </a:t>
            </a:r>
            <a:r>
              <a:rPr lang="pl-PL" dirty="0" err="1"/>
              <a:t>stacking</a:t>
            </a:r>
            <a:r>
              <a:rPr lang="pl-PL" dirty="0"/>
              <a:t> ensemble learning </a:t>
            </a:r>
          </a:p>
          <a:p>
            <a:r>
              <a:rPr lang="pl-PL" dirty="0" err="1"/>
              <a:t>based</a:t>
            </a:r>
            <a:r>
              <a:rPr lang="pl-PL" dirty="0"/>
              <a:t> on </a:t>
            </a:r>
            <a:r>
              <a:rPr lang="pl-PL" dirty="0" err="1"/>
              <a:t>ann</a:t>
            </a:r>
            <a:r>
              <a:rPr lang="pl-PL" dirty="0"/>
              <a:t> and </a:t>
            </a:r>
            <a:r>
              <a:rPr lang="pl-PL" dirty="0" err="1"/>
              <a:t>random</a:t>
            </a:r>
            <a:r>
              <a:rPr lang="pl-PL" dirty="0"/>
              <a:t> </a:t>
            </a:r>
            <a:r>
              <a:rPr lang="pl-PL" dirty="0" err="1"/>
              <a:t>forest</a:t>
            </a:r>
            <a:r>
              <a:rPr lang="pl-PL" dirty="0"/>
              <a:t>. </a:t>
            </a:r>
          </a:p>
          <a:p>
            <a:r>
              <a:rPr lang="pl-PL" i="1" dirty="0" err="1"/>
              <a:t>Journal</a:t>
            </a:r>
            <a:r>
              <a:rPr lang="pl-PL" i="1" dirty="0"/>
              <a:t> of </a:t>
            </a:r>
            <a:r>
              <a:rPr lang="pl-PL" i="1" dirty="0" err="1"/>
              <a:t>Soft</a:t>
            </a:r>
            <a:r>
              <a:rPr lang="pl-PL" i="1" dirty="0"/>
              <a:t> Computing Exploration</a:t>
            </a:r>
            <a:r>
              <a:rPr lang="pl-PL" dirty="0"/>
              <a:t>, </a:t>
            </a:r>
            <a:r>
              <a:rPr lang="pl-PL" i="1" dirty="0"/>
              <a:t>5</a:t>
            </a:r>
            <a:r>
              <a:rPr lang="pl-PL" dirty="0"/>
              <a:t>(3), 290–298. 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B4335608-361D-F751-004E-19D88C4EA7C5}"/>
              </a:ext>
            </a:extLst>
          </p:cNvPr>
          <p:cNvSpPr txBox="1"/>
          <p:nvPr/>
        </p:nvSpPr>
        <p:spPr>
          <a:xfrm>
            <a:off x="4267968" y="5697602"/>
            <a:ext cx="78200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err="1"/>
              <a:t>Su</a:t>
            </a:r>
            <a:r>
              <a:rPr lang="pl-PL" dirty="0"/>
              <a:t>, H., Song, B., &amp; Ahmed, F. (</a:t>
            </a:r>
            <a:r>
              <a:rPr lang="pl-PL" dirty="0" err="1"/>
              <a:t>n.d</a:t>
            </a:r>
            <a:r>
              <a:rPr lang="pl-PL" dirty="0"/>
              <a:t>.). </a:t>
            </a:r>
            <a:r>
              <a:rPr lang="pl-PL" i="1" dirty="0"/>
              <a:t>Multi-</a:t>
            </a:r>
            <a:r>
              <a:rPr lang="pl-PL" i="1" dirty="0" err="1"/>
              <a:t>modal</a:t>
            </a:r>
            <a:r>
              <a:rPr lang="pl-PL" i="1" dirty="0"/>
              <a:t> Machine Learning for </a:t>
            </a:r>
            <a:r>
              <a:rPr lang="pl-PL" i="1" dirty="0" err="1"/>
              <a:t>Vehicle</a:t>
            </a:r>
            <a:r>
              <a:rPr lang="pl-PL" i="1" dirty="0"/>
              <a:t> </a:t>
            </a:r>
          </a:p>
          <a:p>
            <a:r>
              <a:rPr lang="pl-PL" i="1" dirty="0"/>
              <a:t>Rating </a:t>
            </a:r>
            <a:r>
              <a:rPr lang="pl-PL" i="1" dirty="0" err="1"/>
              <a:t>Predictions</a:t>
            </a:r>
            <a:r>
              <a:rPr lang="pl-PL" i="1" dirty="0"/>
              <a:t> Using Image, </a:t>
            </a:r>
            <a:r>
              <a:rPr lang="pl-PL" i="1" dirty="0" err="1"/>
              <a:t>Text</a:t>
            </a:r>
            <a:r>
              <a:rPr lang="pl-PL" i="1" dirty="0"/>
              <a:t>, and </a:t>
            </a:r>
            <a:r>
              <a:rPr lang="pl-PL" i="1" dirty="0" err="1"/>
              <a:t>Parametric</a:t>
            </a:r>
            <a:r>
              <a:rPr lang="pl-PL" i="1" dirty="0"/>
              <a:t> Data. </a:t>
            </a:r>
          </a:p>
          <a:p>
            <a:r>
              <a:rPr lang="pl-PL" i="1" dirty="0" err="1"/>
              <a:t>Sustainability</a:t>
            </a:r>
            <a:r>
              <a:rPr lang="pl-PL" i="1" dirty="0"/>
              <a:t> (</a:t>
            </a:r>
            <a:r>
              <a:rPr lang="pl-PL" i="1" dirty="0" err="1"/>
              <a:t>Switzerland</a:t>
            </a:r>
            <a:r>
              <a:rPr lang="pl-PL" i="1" dirty="0"/>
              <a:t>)</a:t>
            </a:r>
            <a:r>
              <a:rPr lang="pl-PL" dirty="0"/>
              <a:t>, </a:t>
            </a:r>
            <a:r>
              <a:rPr lang="pl-PL" i="1" dirty="0"/>
              <a:t>14</a:t>
            </a:r>
            <a:r>
              <a:rPr lang="pl-PL" dirty="0"/>
              <a:t>(15). </a:t>
            </a:r>
          </a:p>
        </p:txBody>
      </p:sp>
      <p:pic>
        <p:nvPicPr>
          <p:cNvPr id="2" name="Obraz 1">
            <a:extLst>
              <a:ext uri="{FF2B5EF4-FFF2-40B4-BE49-F238E27FC236}">
                <a16:creationId xmlns:a16="http://schemas.microsoft.com/office/drawing/2014/main" id="{CFB0DA73-5401-D66C-C254-0308D93E8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968" y="267403"/>
            <a:ext cx="7772400" cy="1081020"/>
          </a:xfrm>
          <a:prstGeom prst="rect">
            <a:avLst/>
          </a:prstGeom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81AACBA4-95F1-6932-9AA9-A34E61910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907" y="2826297"/>
            <a:ext cx="5293879" cy="286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147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B821C8-7736-15F2-22D9-C91357B16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13EA95-94BE-EC4D-9EBC-B9CF82FD5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E7CAF6-7689-DF22-69A4-4C1D327363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F40082-C803-A410-D05B-C3888B93E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65D468-F841-88FF-FF36-827330755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40EEBF-637D-26C0-B246-DC4A7D2CE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489CF26-8CC5-532E-C8EB-899836CCB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840D0A-29C4-4E01-9BE5-CD11E2A3D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29A71F95-E736-79F5-2952-7F05B40BBB60}"/>
              </a:ext>
            </a:extLst>
          </p:cNvPr>
          <p:cNvSpPr txBox="1">
            <a:spLocks/>
          </p:cNvSpPr>
          <p:nvPr/>
        </p:nvSpPr>
        <p:spPr>
          <a:xfrm>
            <a:off x="466722" y="586855"/>
            <a:ext cx="3201366" cy="41848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rgbClr val="FFFFFF"/>
                </a:solidFill>
              </a:rPr>
              <a:t>Results of Previous Studies</a:t>
            </a:r>
            <a:endParaRPr lang="pl-PL" sz="4000" dirty="0">
              <a:solidFill>
                <a:srgbClr val="FFFFFF"/>
              </a:solidFill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9404563-C5AA-6525-7189-4602BF4F32EF}"/>
              </a:ext>
            </a:extLst>
          </p:cNvPr>
          <p:cNvSpPr txBox="1"/>
          <p:nvPr/>
        </p:nvSpPr>
        <p:spPr>
          <a:xfrm>
            <a:off x="4450951" y="2438561"/>
            <a:ext cx="7264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err="1"/>
              <a:t>Zhu</a:t>
            </a:r>
            <a:r>
              <a:rPr lang="pl-PL" dirty="0"/>
              <a:t>, A. (2024). </a:t>
            </a:r>
            <a:r>
              <a:rPr lang="pl-PL" i="1" dirty="0" err="1"/>
              <a:t>Pre-Owned</a:t>
            </a:r>
            <a:r>
              <a:rPr lang="pl-PL" i="1" dirty="0"/>
              <a:t> Car </a:t>
            </a:r>
            <a:r>
              <a:rPr lang="pl-PL" i="1" dirty="0" err="1"/>
              <a:t>Price</a:t>
            </a:r>
            <a:r>
              <a:rPr lang="pl-PL" i="1" dirty="0"/>
              <a:t> </a:t>
            </a:r>
            <a:r>
              <a:rPr lang="pl-PL" i="1" dirty="0" err="1"/>
              <a:t>Prediction</a:t>
            </a:r>
            <a:r>
              <a:rPr lang="pl-PL" i="1" dirty="0"/>
              <a:t> Using Machine Learning </a:t>
            </a:r>
          </a:p>
          <a:p>
            <a:r>
              <a:rPr lang="pl-PL" i="1" dirty="0" err="1"/>
              <a:t>Techniques</a:t>
            </a:r>
            <a:r>
              <a:rPr lang="pl-PL" dirty="0"/>
              <a:t>. 363–367.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A2DD749-C04D-9848-C8A0-D7EF52451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907" y="337358"/>
            <a:ext cx="6019800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850766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5336</TotalTime>
  <Words>1066</Words>
  <Application>Microsoft Macintosh PowerPoint</Application>
  <PresentationFormat>Panoramiczny</PresentationFormat>
  <Paragraphs>98</Paragraphs>
  <Slides>19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IBM Plex Sans</vt:lpstr>
      <vt:lpstr>Mundial Light</vt:lpstr>
      <vt:lpstr>Motyw pakietu Office</vt:lpstr>
      <vt:lpstr>Used Car Price Prediction with Neural Regression Models Presentation One</vt:lpstr>
      <vt:lpstr>Source code:</vt:lpstr>
      <vt:lpstr>Part I:   1. Goal Definition  2. Data Collection</vt:lpstr>
      <vt:lpstr>Prezentacja programu PowerPoint</vt:lpstr>
      <vt:lpstr>Prezentacja programu PowerPoint</vt:lpstr>
      <vt:lpstr>3. Exploratory Data Analysis  4. Data Preprocessing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Igor Hebda</dc:creator>
  <cp:lastModifiedBy>Igor Hebda</cp:lastModifiedBy>
  <cp:revision>32</cp:revision>
  <dcterms:created xsi:type="dcterms:W3CDTF">2025-05-07T14:02:37Z</dcterms:created>
  <dcterms:modified xsi:type="dcterms:W3CDTF">2025-12-10T11:48:08Z</dcterms:modified>
</cp:coreProperties>
</file>