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301" r:id="rId2"/>
    <p:sldId id="355" r:id="rId3"/>
    <p:sldId id="373" r:id="rId4"/>
    <p:sldId id="378" r:id="rId5"/>
    <p:sldId id="374" r:id="rId6"/>
    <p:sldId id="375" r:id="rId7"/>
    <p:sldId id="376" r:id="rId8"/>
    <p:sldId id="377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1" r:id="rId2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43"/>
    <p:restoredTop sz="94694"/>
  </p:normalViewPr>
  <p:slideViewPr>
    <p:cSldViewPr snapToGrid="0">
      <p:cViewPr varScale="1">
        <p:scale>
          <a:sx n="107" d="100"/>
          <a:sy n="107" d="100"/>
        </p:scale>
        <p:origin x="24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888E08-BC1F-0543-B97D-E472BFA30EE4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66142-2E28-DE40-BFB5-1A7B607851D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41023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66142-2E28-DE40-BFB5-1A7B607851D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1157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66142-2E28-DE40-BFB5-1A7B607851D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67702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0C48A-188B-A09A-5635-677F3D0ED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83937C0D-3613-BF5B-45F4-3A63F9546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D8B5FB8-08B8-64B9-7F4D-074FAA82C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F778D24-05CF-A41C-A4D1-985CE2098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66142-2E28-DE40-BFB5-1A7B607851D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0744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31F87-CA4C-3FA4-5F97-861432C4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794C0B33-CB9D-3474-3993-4846EBAAB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7CAB8BF-61BA-C21C-5A78-46729613B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75A9C40-CE3A-52E6-391E-F6B86D68D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66142-2E28-DE40-BFB5-1A7B607851D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0938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3FCA4-3B4B-3DD3-8555-1F13DA245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D2338A6A-4261-4C8E-3046-FC2DC5B15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69825F7F-CF99-7B87-599B-D4BB3A3F9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D41113A-1F34-4914-A32D-D845C0F6B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66142-2E28-DE40-BFB5-1A7B607851D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8490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0916-51AC-D39F-C118-5C2CBB35A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5BC7869-26CF-B65B-DA78-05ABFAC7F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A5C60B24-F44B-CEC4-E252-48FA6EBEF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F9C4ADC-C158-E4D5-655C-1484C7C11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66142-2E28-DE40-BFB5-1A7B607851D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2308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D51BB-D79B-9F65-5333-7DF601E0F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DB3F05B2-5E9E-A245-382E-86B082605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6A300B9F-AA89-38F7-8136-A7C7DBEF0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3C3E227-A79E-9083-4617-180160197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66142-2E28-DE40-BFB5-1A7B607851D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30687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51BC3-C8C8-30AE-7727-C6127BCC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1CCE712-2EEE-4C85-B51A-D970D9DB6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40DACF3-CE07-7F9C-4AD7-109AE7E71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1AEE5C9-B6E6-C233-43D5-68CFD5135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66142-2E28-DE40-BFB5-1A7B607851D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4938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6DAA1-257B-E852-966D-27E0A192E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5A39F92C-E3CF-44C3-93D6-8CDFC7D48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63F76E2-83CC-DA5E-003A-776D63E5D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C903F94-EE31-E338-8D6B-64DBCF6C9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66142-2E28-DE40-BFB5-1A7B607851D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3623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06898-5AD4-5AFD-654D-66409688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5F026939-B672-8D82-3D47-D22F9E4E1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5D52325-1812-89E0-927C-581E4D06E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A81F88E-5D72-2B57-D193-4D24B42DD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66142-2E28-DE40-BFB5-1A7B607851D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586217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778BF-D3F5-740E-9A7E-98BD8555D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EBBEE1D-8176-86E3-0D5A-3094DF769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180DB72-8B27-7CB0-4165-A84D7BFCC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0449BA3-B309-5917-FB30-3000B9C11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66142-2E28-DE40-BFB5-1A7B607851D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128234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9A941-DFF5-3195-0E5E-DA8A1898B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76DB8C6-E9BD-D5E7-C79C-C8CF36403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7A93AD17-5C80-7B66-173C-65AD5F15C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E076BD8-472A-B840-1E8A-BAA6D62BC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66142-2E28-DE40-BFB5-1A7B607851D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97739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C5E9704-6DFA-D0E5-2B52-2D7B6D8BD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C58661A-E90D-E66F-1D2D-D14969878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30DEE81-D8DF-08D1-DD9E-0B6D9266B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48AB3A5-1158-C0DF-8BE1-D0BCED0A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49A2524-DB4C-AE9A-EA93-348702D2F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1653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6E01A9-AC0B-C3CB-9106-18556157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9D2CF0F-1F10-74D5-6CCE-12FF37D79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F1585AC-B87F-E187-F30E-EFFF2E7FE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39263A8-EB06-011C-889E-E55E5128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2B91F66-AB60-1FA6-E8D6-AE113F05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0351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41CD9D-CA5F-278C-54F8-92ACF1F1A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3E0EB73-C7A0-85E2-7095-5F078D3E2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15AB8D3-99B7-A581-6CE5-2C6ADEB93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0416DDC-2023-D2E2-C22D-A279336CA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E812686-E2B1-F671-B27A-34BD3A9E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1301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9471896-A497-48DB-91CE-A215F82DA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55144C7-2455-7388-33B2-3A796EFF1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B19923A-74AA-0F19-1167-4C71A0C8D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D8464DE-8862-DC52-E499-F873A3580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70174DB-BC23-A8EC-5436-2ABE0E3A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BCC52D6-BEA2-EEBD-54A0-C264D8388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6645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C2C650-D50C-3403-EC01-942862E4F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766EB2C-C411-A03A-6D85-932C4482F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10A6569-6474-4CC5-5B2F-5E7383F9F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2DA614BE-5A7B-FA73-68B3-7E942E57D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BE474080-FE73-E0B3-CEEC-90F58E500C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6A5AC07-1F4F-7C87-FD20-34498D352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1B5BEDA7-8761-A8A3-171A-44D0137A1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CF6FD8A2-8031-A492-F78A-45883FCE8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5284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33E768-9624-E941-F7D0-4041E0595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A1989D7-D1FE-2E7A-ED42-1539AB2B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458113C-1EE8-8740-3089-4158C3E96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41F10E59-9F28-2977-E96E-8531169B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205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D635F177-F734-2F50-62EB-5DF85E3D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83830641-5A65-BBD6-6AAD-88B139D25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5171785-99EE-A867-56C8-39694A285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05641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03E107E-BD37-5920-6E84-68566F1D6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D589FE3-EA94-1F4C-7985-80AE65D03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C493BD8-9CE8-2738-CF29-D7A7106FB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96D26B2-2FA1-19C1-D289-70526361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5FA2EC3-3376-12AA-AA7A-EA6A264AF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FB9D320-43D5-2A96-618D-15BA3B58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7371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4D30A9E-46C2-9072-33A6-20DBB322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D5AD856-9C64-DEF7-1854-74F4F94DB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54147CD-0E77-4CB4-465B-782708B72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FFC120B-A771-7A59-93C3-07A2896DE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AA79692-6635-286E-51A6-4AF9A1D0C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A9FBC23-CCFA-76F4-C7FE-8763F041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14871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877C2C5-66C0-6827-E5CD-7C8406A4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41F4912-1C1D-4D2B-7049-8CDF77B0C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96930AA-B53D-63A7-8BD2-1C867833E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43D7D4E-E1B9-A934-D64A-3452E206F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5E927D-7719-D09D-7647-6DD7CAFF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91616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6A74968D-9CB0-B4A1-03DE-06A7AC7321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C5D9247-E6CB-1C12-8C0A-50586A3A9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D126CE4-7585-CFC8-D818-DBE7DE74D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439286D-5132-FE7B-972C-CFE433504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A06511F-FE5E-35A2-D9ED-069BFED69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05931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B9B05E3-C48F-4BD6-8A96-A14D2BAF38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87A4BEA-E09C-401F-AD54-92B2C41AC5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251780"/>
            <a:ext cx="9144000" cy="438754"/>
          </a:xfrm>
          <a:prstGeom prst="rect">
            <a:avLst/>
          </a:prstGeom>
        </p:spPr>
        <p:txBody>
          <a:bodyPr/>
          <a:lstStyle>
            <a:lvl1pPr marL="0" indent="93663" algn="l">
              <a:buNone/>
              <a:defRPr sz="2000" baseline="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 dirty="0"/>
              <a:t>Dodatkowa nazwa czy autor prezentacji. 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ECC2253-B2D8-4107-892B-CBF89401093F}"/>
              </a:ext>
            </a:extLst>
          </p:cNvPr>
          <p:cNvSpPr txBox="1">
            <a:spLocks/>
          </p:cNvSpPr>
          <p:nvPr userDrawn="1"/>
        </p:nvSpPr>
        <p:spPr>
          <a:xfrm>
            <a:off x="3824515" y="365125"/>
            <a:ext cx="457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OCRpolski" panose="02010509020102010303" pitchFamily="50" charset="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l-PL" dirty="0">
                <a:solidFill>
                  <a:schemeClr val="bg1"/>
                </a:solidFill>
                <a:latin typeface="IBM Plex Sans" panose="020B0503050203000203" pitchFamily="34" charset="0"/>
              </a:rPr>
              <a:t>Polsko-Japońska Akademia Technik Komputerowych</a:t>
            </a:r>
            <a:endParaRPr lang="en-US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301AC5-525F-4011-95AA-296E08440C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551" y="5680453"/>
            <a:ext cx="615590" cy="627004"/>
          </a:xfrm>
          <a:prstGeom prst="rect">
            <a:avLst/>
          </a:prstGeom>
        </p:spPr>
      </p:pic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9E7C9829-D927-495C-9147-448A7A695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84777" y="5696214"/>
            <a:ext cx="1483556" cy="6270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00" baseline="0">
                <a:solidFill>
                  <a:schemeClr val="bg1"/>
                </a:solidFill>
                <a:latin typeface="Mundial Light" pitchFamily="50" charset="-18"/>
              </a:defRPr>
            </a:lvl1pPr>
          </a:lstStyle>
          <a:p>
            <a:br>
              <a:rPr lang="pl-PL" dirty="0"/>
            </a:br>
            <a:r>
              <a:rPr lang="pl-PL" dirty="0"/>
              <a:t>Miejsce na wasze osobiste logo</a:t>
            </a:r>
            <a:endParaRPr lang="en-US" dirty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97D90A88-35AF-4ADC-ACE2-DB1D81EB39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532063" y="5680075"/>
            <a:ext cx="676275" cy="6270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00" baseline="0">
                <a:solidFill>
                  <a:schemeClr val="bg1"/>
                </a:solidFill>
                <a:latin typeface="Mundial Light" pitchFamily="50" charset="-18"/>
              </a:defRPr>
            </a:lvl1pPr>
          </a:lstStyle>
          <a:p>
            <a:r>
              <a:rPr lang="pl-PL" dirty="0"/>
              <a:t>Miejsce na wasze osobiste logo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C7C27E8-2E3B-4A11-9E20-5BA04B40F6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566333"/>
            <a:ext cx="9144000" cy="2547787"/>
          </a:xfrm>
        </p:spPr>
        <p:txBody>
          <a:bodyPr anchor="b"/>
          <a:lstStyle>
            <a:lvl1pPr algn="l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pl-PL" dirty="0"/>
              <a:t>Nazwa </a:t>
            </a:r>
            <a:br>
              <a:rPr lang="pl-PL" dirty="0"/>
            </a:br>
            <a:r>
              <a:rPr lang="pl-PL" dirty="0"/>
              <a:t>Prezentacji</a:t>
            </a:r>
            <a:br>
              <a:rPr lang="pl-PL" dirty="0"/>
            </a:br>
            <a:r>
              <a:rPr lang="pl-PL" dirty="0"/>
              <a:t>Administracja PJATK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554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7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CFAB15A-1825-D987-87F5-EADECCC38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ED9BD62-92CD-258F-6E6F-D9EB28318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5A397B-4BD6-D040-881B-9520EFE171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48F5B-1B7E-ED4E-BFE7-9AE019CF6DC6}" type="datetimeFigureOut">
              <a:rPr lang="pl-PL" smtClean="0"/>
              <a:t>11.12.2025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429A324-3854-0250-B09B-11A587E3A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F7DF2D1-8E88-C9B1-3138-DB00FA9B0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8843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https://documents.lucid.app/documents/81d18dcd-74d9-4a0c-bf71-c28d2b636daf/pages/0_0?a=396&amp;x=-660&amp;y=-142&amp;w=1732&amp;h=466&amp;store=1&amp;accept=image%2F*&amp;auth=LCA%209203103ef8b5936c51148abc57a5a5d07d5f86df37bd92fa230578e9139d8920-ts%3D1765388859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https://documents.lucid.app/documents/81d18dcd-74d9-4a0c-bf71-c28d2b636daf/pages/0_0?a=525&amp;x=-769&amp;y=511&amp;w=2265&amp;h=466&amp;store=1&amp;accept=image%2F*&amp;auth=LCA%20160c5b2fda713607302a1a64d4a576074ea54895654f85471760cb3d76f6984b-ts%3D1765388859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F7C18D2-A792-29D4-F88D-B83592634A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Igor Hebda s34836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4C2E6A-8FBC-8C08-970D-BED29A89E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Used Car Price Prediction with Neural Regression Models</a:t>
            </a:r>
            <a:br>
              <a:rPr lang="en-US" dirty="0"/>
            </a:br>
            <a:r>
              <a:rPr lang="en-US" dirty="0"/>
              <a:t>Presentation Two</a:t>
            </a:r>
          </a:p>
        </p:txBody>
      </p:sp>
    </p:spTree>
    <p:extLst>
      <p:ext uri="{BB962C8B-B14F-4D97-AF65-F5344CB8AC3E}">
        <p14:creationId xmlns:p14="http://schemas.microsoft.com/office/powerpoint/2010/main" val="2584568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F022EF-A2C0-74ED-74BA-02AF990B3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Source </a:t>
            </a:r>
            <a:r>
              <a:rPr lang="pl-PL" dirty="0" err="1"/>
              <a:t>code</a:t>
            </a:r>
            <a:r>
              <a:rPr lang="pl-PL" dirty="0"/>
              <a:t>: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1193AA0-248F-C0EF-5080-2C5F1AEBC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https</a:t>
            </a:r>
            <a:r>
              <a:rPr lang="pl-PL" dirty="0"/>
              <a:t>://</a:t>
            </a:r>
            <a:r>
              <a:rPr lang="pl-PL" dirty="0" err="1"/>
              <a:t>github.com</a:t>
            </a:r>
            <a:r>
              <a:rPr lang="pl-PL" dirty="0"/>
              <a:t>/s34836/WUM_PROJECT</a:t>
            </a:r>
          </a:p>
        </p:txBody>
      </p:sp>
    </p:spTree>
    <p:extLst>
      <p:ext uri="{BB962C8B-B14F-4D97-AF65-F5344CB8AC3E}">
        <p14:creationId xmlns:p14="http://schemas.microsoft.com/office/powerpoint/2010/main" val="176160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7">
            <a:extLst>
              <a:ext uri="{FF2B5EF4-FFF2-40B4-BE49-F238E27FC236}">
                <a16:creationId xmlns:a16="http://schemas.microsoft.com/office/drawing/2014/main" id="{989681AA-CAA8-EB25-4DDA-093ABD81B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" name="Rectangle 9">
            <a:extLst>
              <a:ext uri="{FF2B5EF4-FFF2-40B4-BE49-F238E27FC236}">
                <a16:creationId xmlns:a16="http://schemas.microsoft.com/office/drawing/2014/main" id="{D6ED4B4D-D652-0A29-C6C7-576BB7EFA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FCFF2027-A8EF-5CD5-B917-DA399D3D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0EF74F5-562F-4736-5804-DABDA53C8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2ADEE7A5-D519-C3CC-F28E-75AFCF642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FB7DDDB2-5730-A18B-1D50-22469ED0D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3CEE2F2C-2D90-70AB-D67B-D1DBE45BD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ytuł 1">
            <a:extLst>
              <a:ext uri="{FF2B5EF4-FFF2-40B4-BE49-F238E27FC236}">
                <a16:creationId xmlns:a16="http://schemas.microsoft.com/office/drawing/2014/main" id="{2867CC35-C9C5-40CB-782C-D29E93232A5F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Baseline Model</a:t>
            </a:r>
          </a:p>
          <a:p>
            <a:pPr algn="r"/>
            <a:r>
              <a:rPr lang="en-US" sz="4000" dirty="0">
                <a:solidFill>
                  <a:srgbClr val="FFFFFF"/>
                </a:solidFill>
              </a:rPr>
              <a:t>(Regression &amp; Trees)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DCEFE7C6-D9BA-1459-79C7-9238750C4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85" y="352924"/>
            <a:ext cx="7772400" cy="1707171"/>
          </a:xfrm>
          <a:prstGeom prst="rect">
            <a:avLst/>
          </a:prstGeom>
        </p:spPr>
      </p:pic>
      <p:pic>
        <p:nvPicPr>
          <p:cNvPr id="3" name="Obraz 2">
            <a:extLst>
              <a:ext uri="{FF2B5EF4-FFF2-40B4-BE49-F238E27FC236}">
                <a16:creationId xmlns:a16="http://schemas.microsoft.com/office/drawing/2014/main" id="{896995F0-5569-3E28-9B9C-07E4F02E0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185" y="2888440"/>
            <a:ext cx="7772400" cy="231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07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F804C-3FC5-FB1A-3C23-56319FCE4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7">
            <a:extLst>
              <a:ext uri="{FF2B5EF4-FFF2-40B4-BE49-F238E27FC236}">
                <a16:creationId xmlns:a16="http://schemas.microsoft.com/office/drawing/2014/main" id="{92B0FC98-496C-B57F-DB6C-11B8611D3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" name="Rectangle 9">
            <a:extLst>
              <a:ext uri="{FF2B5EF4-FFF2-40B4-BE49-F238E27FC236}">
                <a16:creationId xmlns:a16="http://schemas.microsoft.com/office/drawing/2014/main" id="{B3F5CCFD-40A6-6B4F-B9AD-96319C745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C0D17B75-0044-C4E7-1E33-A008B4AAD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2585CCF-D74B-904B-4AD4-297996909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B20A013A-C3B1-9F16-606B-E7BFC37DF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487E2CEA-F71E-6945-AF2D-746619C03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1973C7D7-CD4C-715A-DB9E-B5212F426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ytuł 1">
            <a:extLst>
              <a:ext uri="{FF2B5EF4-FFF2-40B4-BE49-F238E27FC236}">
                <a16:creationId xmlns:a16="http://schemas.microsoft.com/office/drawing/2014/main" id="{E6D4AEB5-F65C-17B7-808E-84B7DEC9579C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Baseline Model</a:t>
            </a:r>
          </a:p>
          <a:p>
            <a:pPr algn="r"/>
            <a:r>
              <a:rPr lang="en-US" sz="4000" dirty="0">
                <a:solidFill>
                  <a:srgbClr val="FFFFFF"/>
                </a:solidFill>
              </a:rPr>
              <a:t>(Simple MLP)</a:t>
            </a:r>
            <a:endParaRPr lang="pl-PL" sz="4000" dirty="0">
              <a:solidFill>
                <a:srgbClr val="FFFFFF"/>
              </a:solidFill>
            </a:endParaRPr>
          </a:p>
        </p:txBody>
      </p:sp>
      <p:sp>
        <p:nvSpPr>
          <p:cNvPr id="14" name="Symbol zastępczy zawartości 2">
            <a:extLst>
              <a:ext uri="{FF2B5EF4-FFF2-40B4-BE49-F238E27FC236}">
                <a16:creationId xmlns:a16="http://schemas.microsoft.com/office/drawing/2014/main" id="{79C01B70-C422-4193-292A-9EADFA64542A}"/>
              </a:ext>
            </a:extLst>
          </p:cNvPr>
          <p:cNvSpPr txBox="1">
            <a:spLocks/>
          </p:cNvSpPr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2000" b="1" dirty="0" err="1">
                <a:solidFill>
                  <a:schemeClr val="tx1"/>
                </a:solidFill>
              </a:rPr>
              <a:t>Description</a:t>
            </a:r>
            <a:r>
              <a:rPr lang="pl-PL" sz="2000" b="1" dirty="0">
                <a:solidFill>
                  <a:schemeClr val="tx1"/>
                </a:solidFill>
              </a:rPr>
              <a:t>:</a:t>
            </a:r>
          </a:p>
          <a:p>
            <a:r>
              <a:rPr lang="pl-PL" sz="2000" dirty="0">
                <a:solidFill>
                  <a:schemeClr val="tx1"/>
                </a:solidFill>
              </a:rPr>
              <a:t>A </a:t>
            </a:r>
            <a:r>
              <a:rPr lang="pl-PL" sz="2000" dirty="0" err="1">
                <a:solidFill>
                  <a:schemeClr val="tx1"/>
                </a:solidFill>
              </a:rPr>
              <a:t>minimal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fully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connected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neural</a:t>
            </a:r>
            <a:r>
              <a:rPr lang="pl-PL" sz="2000" dirty="0">
                <a:solidFill>
                  <a:schemeClr val="tx1"/>
                </a:solidFill>
              </a:rPr>
              <a:t> network </a:t>
            </a:r>
            <a:r>
              <a:rPr lang="pl-PL" sz="2000" dirty="0" err="1">
                <a:solidFill>
                  <a:schemeClr val="tx1"/>
                </a:solidFill>
              </a:rPr>
              <a:t>trained</a:t>
            </a:r>
            <a:r>
              <a:rPr lang="pl-PL" sz="2000" dirty="0">
                <a:solidFill>
                  <a:schemeClr val="tx1"/>
                </a:solidFill>
              </a:rPr>
              <a:t> on </a:t>
            </a:r>
            <a:r>
              <a:rPr lang="pl-PL" sz="2000" dirty="0" err="1">
                <a:solidFill>
                  <a:schemeClr val="tx1"/>
                </a:solidFill>
              </a:rPr>
              <a:t>all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structured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features</a:t>
            </a:r>
            <a:r>
              <a:rPr lang="pl-PL" sz="2000" dirty="0">
                <a:solidFill>
                  <a:schemeClr val="tx1"/>
                </a:solidFill>
              </a:rPr>
              <a:t>. It </a:t>
            </a:r>
            <a:r>
              <a:rPr lang="pl-PL" sz="2000" dirty="0" err="1">
                <a:solidFill>
                  <a:schemeClr val="tx1"/>
                </a:solidFill>
              </a:rPr>
              <a:t>provides</a:t>
            </a:r>
            <a:r>
              <a:rPr lang="pl-PL" sz="2000" dirty="0">
                <a:solidFill>
                  <a:schemeClr val="tx1"/>
                </a:solidFill>
              </a:rPr>
              <a:t> a </a:t>
            </a:r>
            <a:r>
              <a:rPr lang="pl-PL" sz="2000" dirty="0" err="1">
                <a:solidFill>
                  <a:schemeClr val="tx1"/>
                </a:solidFill>
              </a:rPr>
              <a:t>simple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nonlinear</a:t>
            </a:r>
            <a:r>
              <a:rPr lang="pl-PL" sz="2000" dirty="0">
                <a:solidFill>
                  <a:schemeClr val="tx1"/>
                </a:solidFill>
              </a:rPr>
              <a:t> benchmark and </a:t>
            </a:r>
            <a:r>
              <a:rPr lang="pl-PL" sz="2000" dirty="0" err="1">
                <a:solidFill>
                  <a:schemeClr val="tx1"/>
                </a:solidFill>
              </a:rPr>
              <a:t>captures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basic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interactions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between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variables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such</a:t>
            </a:r>
            <a:r>
              <a:rPr lang="pl-PL" sz="2000" dirty="0">
                <a:solidFill>
                  <a:schemeClr val="tx1"/>
                </a:solidFill>
              </a:rPr>
              <a:t> as </a:t>
            </a:r>
            <a:r>
              <a:rPr lang="pl-PL" sz="2000" dirty="0" err="1">
                <a:solidFill>
                  <a:schemeClr val="tx1"/>
                </a:solidFill>
              </a:rPr>
              <a:t>mileage</a:t>
            </a:r>
            <a:r>
              <a:rPr lang="pl-PL" sz="2000" dirty="0">
                <a:solidFill>
                  <a:schemeClr val="tx1"/>
                </a:solidFill>
              </a:rPr>
              <a:t>, </a:t>
            </a:r>
            <a:r>
              <a:rPr lang="pl-PL" sz="2000" dirty="0" err="1">
                <a:solidFill>
                  <a:schemeClr val="tx1"/>
                </a:solidFill>
              </a:rPr>
              <a:t>age</a:t>
            </a:r>
            <a:r>
              <a:rPr lang="pl-PL" sz="2000" dirty="0">
                <a:solidFill>
                  <a:schemeClr val="tx1"/>
                </a:solidFill>
              </a:rPr>
              <a:t>, and </a:t>
            </a:r>
            <a:r>
              <a:rPr lang="pl-PL" sz="2000" dirty="0" err="1">
                <a:solidFill>
                  <a:schemeClr val="tx1"/>
                </a:solidFill>
              </a:rPr>
              <a:t>engine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power</a:t>
            </a:r>
            <a:r>
              <a:rPr lang="pl-PL" sz="2000" dirty="0">
                <a:solidFill>
                  <a:schemeClr val="tx1"/>
                </a:solidFill>
              </a:rPr>
              <a:t>.</a:t>
            </a:r>
          </a:p>
          <a:p>
            <a:r>
              <a:rPr lang="pl-PL" sz="2000" b="1" dirty="0">
                <a:solidFill>
                  <a:schemeClr val="tx1"/>
                </a:solidFill>
              </a:rPr>
              <a:t>Architecture (</a:t>
            </a:r>
            <a:r>
              <a:rPr lang="pl-PL" sz="2000" b="1" dirty="0" err="1">
                <a:solidFill>
                  <a:schemeClr val="tx1"/>
                </a:solidFill>
              </a:rPr>
              <a:t>summary</a:t>
            </a:r>
            <a:r>
              <a:rPr lang="pl-PL" sz="2000" b="1" dirty="0">
                <a:solidFill>
                  <a:schemeClr val="tx1"/>
                </a:solidFill>
              </a:rPr>
              <a:t>):</a:t>
            </a:r>
          </a:p>
          <a:p>
            <a:r>
              <a:rPr lang="pl-PL" sz="2000" dirty="0">
                <a:solidFill>
                  <a:schemeClr val="tx1"/>
                </a:solidFill>
              </a:rPr>
              <a:t>• Input </a:t>
            </a:r>
            <a:r>
              <a:rPr lang="pl-PL" sz="2000" dirty="0" err="1">
                <a:solidFill>
                  <a:schemeClr val="tx1"/>
                </a:solidFill>
              </a:rPr>
              <a:t>layer</a:t>
            </a:r>
            <a:r>
              <a:rPr lang="pl-PL" sz="2000" dirty="0">
                <a:solidFill>
                  <a:schemeClr val="tx1"/>
                </a:solidFill>
              </a:rPr>
              <a:t> → one </a:t>
            </a:r>
            <a:r>
              <a:rPr lang="pl-PL" sz="2000" dirty="0" err="1">
                <a:solidFill>
                  <a:schemeClr val="tx1"/>
                </a:solidFill>
              </a:rPr>
              <a:t>hidden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layer</a:t>
            </a:r>
            <a:r>
              <a:rPr lang="pl-PL" sz="2000" dirty="0">
                <a:solidFill>
                  <a:schemeClr val="tx1"/>
                </a:solidFill>
              </a:rPr>
              <a:t> (128 </a:t>
            </a:r>
            <a:r>
              <a:rPr lang="pl-PL" sz="2000" dirty="0" err="1">
                <a:solidFill>
                  <a:schemeClr val="tx1"/>
                </a:solidFill>
              </a:rPr>
              <a:t>units</a:t>
            </a:r>
            <a:r>
              <a:rPr lang="pl-PL" sz="2000" dirty="0">
                <a:solidFill>
                  <a:schemeClr val="tx1"/>
                </a:solidFill>
              </a:rPr>
              <a:t>) → </a:t>
            </a:r>
            <a:r>
              <a:rPr lang="pl-PL" sz="2000" dirty="0" err="1">
                <a:solidFill>
                  <a:schemeClr val="tx1"/>
                </a:solidFill>
              </a:rPr>
              <a:t>output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layer</a:t>
            </a:r>
            <a:endParaRPr lang="pl-PL" sz="2000" dirty="0">
              <a:solidFill>
                <a:schemeClr val="tx1"/>
              </a:solidFill>
            </a:endParaRPr>
          </a:p>
          <a:p>
            <a:r>
              <a:rPr lang="pl-PL" sz="2000" dirty="0">
                <a:solidFill>
                  <a:schemeClr val="tx1"/>
                </a:solidFill>
              </a:rPr>
              <a:t>• </a:t>
            </a:r>
            <a:r>
              <a:rPr lang="pl-PL" sz="2000" dirty="0" err="1">
                <a:solidFill>
                  <a:schemeClr val="tx1"/>
                </a:solidFill>
              </a:rPr>
              <a:t>Hidden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layer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uses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Linear</a:t>
            </a:r>
            <a:r>
              <a:rPr lang="pl-PL" sz="2000" dirty="0">
                <a:solidFill>
                  <a:schemeClr val="tx1"/>
                </a:solidFill>
              </a:rPr>
              <a:t> → </a:t>
            </a:r>
            <a:r>
              <a:rPr lang="pl-PL" sz="2000" dirty="0" err="1">
                <a:solidFill>
                  <a:schemeClr val="tx1"/>
                </a:solidFill>
              </a:rPr>
              <a:t>ReLU</a:t>
            </a:r>
            <a:endParaRPr lang="pl-PL" sz="2000" dirty="0">
              <a:solidFill>
                <a:schemeClr val="tx1"/>
              </a:solidFill>
            </a:endParaRPr>
          </a:p>
          <a:p>
            <a:r>
              <a:rPr lang="pl-PL" sz="2000" dirty="0">
                <a:solidFill>
                  <a:schemeClr val="tx1"/>
                </a:solidFill>
              </a:rPr>
              <a:t>• </a:t>
            </a:r>
            <a:r>
              <a:rPr lang="pl-PL" sz="2000" dirty="0" err="1">
                <a:solidFill>
                  <a:schemeClr val="tx1"/>
                </a:solidFill>
              </a:rPr>
              <a:t>Output</a:t>
            </a:r>
            <a:r>
              <a:rPr lang="pl-PL" sz="2000" dirty="0">
                <a:solidFill>
                  <a:schemeClr val="tx1"/>
                </a:solidFill>
              </a:rPr>
              <a:t>: single neuron </a:t>
            </a:r>
            <a:r>
              <a:rPr lang="pl-PL" sz="2000" dirty="0" err="1">
                <a:solidFill>
                  <a:schemeClr val="tx1"/>
                </a:solidFill>
              </a:rPr>
              <a:t>predicting</a:t>
            </a:r>
            <a:r>
              <a:rPr lang="pl-PL" sz="2000" dirty="0">
                <a:solidFill>
                  <a:schemeClr val="tx1"/>
                </a:solidFill>
              </a:rPr>
              <a:t> log-</a:t>
            </a:r>
            <a:r>
              <a:rPr lang="pl-PL" sz="2000" dirty="0" err="1">
                <a:solidFill>
                  <a:schemeClr val="tx1"/>
                </a:solidFill>
              </a:rPr>
              <a:t>price</a:t>
            </a:r>
            <a:endParaRPr lang="pl-PL" sz="2000" dirty="0">
              <a:solidFill>
                <a:schemeClr val="tx1"/>
              </a:solidFill>
            </a:endParaRPr>
          </a:p>
          <a:p>
            <a:r>
              <a:rPr lang="pl-PL" sz="2000" b="1" dirty="0" err="1">
                <a:solidFill>
                  <a:schemeClr val="tx1"/>
                </a:solidFill>
              </a:rPr>
              <a:t>Why</a:t>
            </a:r>
            <a:r>
              <a:rPr lang="pl-PL" sz="2000" b="1" dirty="0">
                <a:solidFill>
                  <a:schemeClr val="tx1"/>
                </a:solidFill>
              </a:rPr>
              <a:t> </a:t>
            </a:r>
            <a:r>
              <a:rPr lang="pl-PL" sz="2000" b="1" dirty="0" err="1">
                <a:solidFill>
                  <a:schemeClr val="tx1"/>
                </a:solidFill>
              </a:rPr>
              <a:t>this</a:t>
            </a:r>
            <a:r>
              <a:rPr lang="pl-PL" sz="2000" b="1" dirty="0">
                <a:solidFill>
                  <a:schemeClr val="tx1"/>
                </a:solidFill>
              </a:rPr>
              <a:t> design:</a:t>
            </a:r>
          </a:p>
          <a:p>
            <a:r>
              <a:rPr lang="pl-PL" sz="2000" dirty="0">
                <a:solidFill>
                  <a:schemeClr val="tx1"/>
                </a:solidFill>
              </a:rPr>
              <a:t>• </a:t>
            </a:r>
            <a:r>
              <a:rPr lang="pl-PL" sz="2000" dirty="0" err="1">
                <a:solidFill>
                  <a:schemeClr val="tx1"/>
                </a:solidFill>
              </a:rPr>
              <a:t>Very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lightweight</a:t>
            </a:r>
            <a:r>
              <a:rPr lang="pl-PL" sz="2000" dirty="0">
                <a:solidFill>
                  <a:schemeClr val="tx1"/>
                </a:solidFill>
              </a:rPr>
              <a:t> and </a:t>
            </a:r>
            <a:r>
              <a:rPr lang="pl-PL" sz="2000" dirty="0" err="1">
                <a:solidFill>
                  <a:schemeClr val="tx1"/>
                </a:solidFill>
              </a:rPr>
              <a:t>easy</a:t>
            </a:r>
            <a:r>
              <a:rPr lang="pl-PL" sz="2000" dirty="0">
                <a:solidFill>
                  <a:schemeClr val="tx1"/>
                </a:solidFill>
              </a:rPr>
              <a:t> to </a:t>
            </a:r>
            <a:r>
              <a:rPr lang="pl-PL" sz="2000" dirty="0" err="1">
                <a:solidFill>
                  <a:schemeClr val="tx1"/>
                </a:solidFill>
              </a:rPr>
              <a:t>interpret</a:t>
            </a:r>
            <a:endParaRPr lang="pl-PL" sz="2000" dirty="0">
              <a:solidFill>
                <a:schemeClr val="tx1"/>
              </a:solidFill>
            </a:endParaRPr>
          </a:p>
          <a:p>
            <a:r>
              <a:rPr lang="pl-PL" sz="2000" dirty="0">
                <a:solidFill>
                  <a:schemeClr val="tx1"/>
                </a:solidFill>
              </a:rPr>
              <a:t>• </a:t>
            </a:r>
            <a:r>
              <a:rPr lang="pl-PL" sz="2000" dirty="0" err="1">
                <a:solidFill>
                  <a:schemeClr val="tx1"/>
                </a:solidFill>
              </a:rPr>
              <a:t>ReLU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introduces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nonlinearity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while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keeping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training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stable</a:t>
            </a:r>
            <a:endParaRPr lang="pl-PL" sz="2000" dirty="0">
              <a:solidFill>
                <a:schemeClr val="tx1"/>
              </a:solidFill>
            </a:endParaRPr>
          </a:p>
          <a:p>
            <a:r>
              <a:rPr lang="pl-PL" sz="2000" dirty="0">
                <a:solidFill>
                  <a:schemeClr val="tx1"/>
                </a:solidFill>
              </a:rPr>
              <a:t>• </a:t>
            </a:r>
            <a:r>
              <a:rPr lang="pl-PL" sz="2000" dirty="0" err="1">
                <a:solidFill>
                  <a:schemeClr val="tx1"/>
                </a:solidFill>
              </a:rPr>
              <a:t>Ideal</a:t>
            </a:r>
            <a:r>
              <a:rPr lang="pl-PL" sz="2000" dirty="0">
                <a:solidFill>
                  <a:schemeClr val="tx1"/>
                </a:solidFill>
              </a:rPr>
              <a:t> as a </a:t>
            </a:r>
            <a:r>
              <a:rPr lang="pl-PL" sz="2000" dirty="0" err="1">
                <a:solidFill>
                  <a:schemeClr val="tx1"/>
                </a:solidFill>
              </a:rPr>
              <a:t>baseline</a:t>
            </a:r>
            <a:r>
              <a:rPr lang="pl-PL" sz="2000" dirty="0">
                <a:solidFill>
                  <a:schemeClr val="tx1"/>
                </a:solidFill>
              </a:rPr>
              <a:t> to </a:t>
            </a:r>
            <a:r>
              <a:rPr lang="pl-PL" sz="2000" dirty="0" err="1">
                <a:solidFill>
                  <a:schemeClr val="tx1"/>
                </a:solidFill>
              </a:rPr>
              <a:t>compare</a:t>
            </a:r>
            <a:r>
              <a:rPr lang="pl-PL" sz="2000" dirty="0">
                <a:solidFill>
                  <a:schemeClr val="tx1"/>
                </a:solidFill>
              </a:rPr>
              <a:t> with </a:t>
            </a:r>
            <a:r>
              <a:rPr lang="pl-PL" sz="2000" dirty="0" err="1">
                <a:solidFill>
                  <a:schemeClr val="tx1"/>
                </a:solidFill>
              </a:rPr>
              <a:t>deeper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or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multimodal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architectures</a:t>
            </a:r>
            <a:endParaRPr lang="pl-PL" sz="2000" dirty="0">
              <a:solidFill>
                <a:schemeClr val="tx1"/>
              </a:solidFill>
            </a:endParaRPr>
          </a:p>
          <a:p>
            <a:r>
              <a:rPr lang="pl-PL" sz="2000" b="1" dirty="0">
                <a:solidFill>
                  <a:schemeClr val="tx1"/>
                </a:solidFill>
              </a:rPr>
              <a:t>Role in the </a:t>
            </a:r>
            <a:r>
              <a:rPr lang="pl-PL" sz="2000" b="1" dirty="0" err="1">
                <a:solidFill>
                  <a:schemeClr val="tx1"/>
                </a:solidFill>
              </a:rPr>
              <a:t>project</a:t>
            </a:r>
            <a:r>
              <a:rPr lang="pl-PL" sz="2000" b="1" dirty="0">
                <a:solidFill>
                  <a:schemeClr val="tx1"/>
                </a:solidFill>
              </a:rPr>
              <a:t>:</a:t>
            </a:r>
          </a:p>
          <a:p>
            <a:r>
              <a:rPr lang="pl-PL" sz="2000" dirty="0" err="1">
                <a:solidFill>
                  <a:schemeClr val="tx1"/>
                </a:solidFill>
              </a:rPr>
              <a:t>Serves</a:t>
            </a:r>
            <a:r>
              <a:rPr lang="pl-PL" sz="2000" dirty="0">
                <a:solidFill>
                  <a:schemeClr val="tx1"/>
                </a:solidFill>
              </a:rPr>
              <a:t> as the </a:t>
            </a:r>
            <a:r>
              <a:rPr lang="pl-PL" sz="2000" dirty="0" err="1">
                <a:solidFill>
                  <a:schemeClr val="tx1"/>
                </a:solidFill>
              </a:rPr>
              <a:t>simplest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neural</a:t>
            </a:r>
            <a:r>
              <a:rPr lang="pl-PL" sz="2000" dirty="0">
                <a:solidFill>
                  <a:schemeClr val="tx1"/>
                </a:solidFill>
              </a:rPr>
              <a:t> benchmark, </a:t>
            </a:r>
            <a:r>
              <a:rPr lang="pl-PL" sz="2000" dirty="0" err="1">
                <a:solidFill>
                  <a:schemeClr val="tx1"/>
                </a:solidFill>
              </a:rPr>
              <a:t>showing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how</a:t>
            </a:r>
            <a:r>
              <a:rPr lang="pl-PL" sz="2000" dirty="0">
                <a:solidFill>
                  <a:schemeClr val="tx1"/>
                </a:solidFill>
              </a:rPr>
              <a:t> a </a:t>
            </a:r>
            <a:r>
              <a:rPr lang="pl-PL" sz="2000" dirty="0" err="1">
                <a:solidFill>
                  <a:schemeClr val="tx1"/>
                </a:solidFill>
              </a:rPr>
              <a:t>minimal</a:t>
            </a:r>
            <a:r>
              <a:rPr lang="pl-PL" sz="2000" dirty="0">
                <a:solidFill>
                  <a:schemeClr val="tx1"/>
                </a:solidFill>
              </a:rPr>
              <a:t> MLP </a:t>
            </a:r>
            <a:r>
              <a:rPr lang="pl-PL" sz="2000" dirty="0" err="1">
                <a:solidFill>
                  <a:schemeClr val="tx1"/>
                </a:solidFill>
              </a:rPr>
              <a:t>performs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before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introducing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more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advanced</a:t>
            </a:r>
            <a:r>
              <a:rPr lang="pl-PL" sz="2000" dirty="0">
                <a:solidFill>
                  <a:schemeClr val="tx1"/>
                </a:solidFill>
              </a:rPr>
              <a:t> </a:t>
            </a:r>
            <a:r>
              <a:rPr lang="pl-PL" sz="2000" dirty="0" err="1">
                <a:solidFill>
                  <a:schemeClr val="tx1"/>
                </a:solidFill>
              </a:rPr>
              <a:t>models</a:t>
            </a:r>
            <a:r>
              <a:rPr lang="pl-PL" sz="2000" dirty="0">
                <a:solidFill>
                  <a:schemeClr val="tx1"/>
                </a:solidFill>
              </a:rPr>
              <a:t>.</a:t>
            </a:r>
          </a:p>
          <a:p>
            <a:r>
              <a:rPr lang="pl-PL" sz="2000" b="1" dirty="0">
                <a:solidFill>
                  <a:schemeClr val="tx1"/>
                </a:solidFill>
              </a:rPr>
              <a:t>FILE: 3-3-1.ipynb</a:t>
            </a:r>
          </a:p>
        </p:txBody>
      </p:sp>
    </p:spTree>
    <p:extLst>
      <p:ext uri="{BB962C8B-B14F-4D97-AF65-F5344CB8AC3E}">
        <p14:creationId xmlns:p14="http://schemas.microsoft.com/office/powerpoint/2010/main" val="3542176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0911D-5BB7-0845-2982-90C9C3933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7">
            <a:extLst>
              <a:ext uri="{FF2B5EF4-FFF2-40B4-BE49-F238E27FC236}">
                <a16:creationId xmlns:a16="http://schemas.microsoft.com/office/drawing/2014/main" id="{D0E6833F-5566-4AB4-E57C-B2D9C420A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" name="Rectangle 9">
            <a:extLst>
              <a:ext uri="{FF2B5EF4-FFF2-40B4-BE49-F238E27FC236}">
                <a16:creationId xmlns:a16="http://schemas.microsoft.com/office/drawing/2014/main" id="{0229C705-AA6B-C815-8E3A-C5E5937AF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853782D7-4DB3-C971-9204-2442B5E83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373BC21-E36B-D8C0-908D-E56E1ED60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F380F330-FE0D-0AEE-9C6F-0FDDA260C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C43CF671-E508-81D3-038A-C3309ED0A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A5DBDC9D-2227-16DA-4F3F-8B5502F10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ytuł 1">
            <a:extLst>
              <a:ext uri="{FF2B5EF4-FFF2-40B4-BE49-F238E27FC236}">
                <a16:creationId xmlns:a16="http://schemas.microsoft.com/office/drawing/2014/main" id="{0F30D791-3998-0076-0FF7-2852B98B0D50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Baseline Model</a:t>
            </a:r>
          </a:p>
          <a:p>
            <a:pPr algn="r"/>
            <a:r>
              <a:rPr lang="en-US" sz="4000" dirty="0">
                <a:solidFill>
                  <a:srgbClr val="FFFFFF"/>
                </a:solidFill>
              </a:rPr>
              <a:t>(Simple MLP)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2AFF996C-E0EC-D186-07BE-9179D927D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732" y="2182256"/>
            <a:ext cx="69596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39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EA6A-24D1-0810-9A98-5D2CC5E14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7">
            <a:extLst>
              <a:ext uri="{FF2B5EF4-FFF2-40B4-BE49-F238E27FC236}">
                <a16:creationId xmlns:a16="http://schemas.microsoft.com/office/drawing/2014/main" id="{FC639E9C-7C1F-1F2F-3A30-91FC9E4ED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" name="Rectangle 9">
            <a:extLst>
              <a:ext uri="{FF2B5EF4-FFF2-40B4-BE49-F238E27FC236}">
                <a16:creationId xmlns:a16="http://schemas.microsoft.com/office/drawing/2014/main" id="{4AAD57AE-D42D-9B65-1FFA-89D015AC9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566BF8E5-F9FF-F716-2D6F-513B863D7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05789D0-5AE2-8C46-A721-C43250AC3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4B0808D9-0A44-A61B-829C-86B7962F0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3B43EEE6-6FC9-71C7-C965-911E7BBF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DEE71313-BB5E-DCFD-4524-B5643CDB7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ytuł 1">
            <a:extLst>
              <a:ext uri="{FF2B5EF4-FFF2-40B4-BE49-F238E27FC236}">
                <a16:creationId xmlns:a16="http://schemas.microsoft.com/office/drawing/2014/main" id="{F1653294-7684-E1F0-967D-AED1C134DDC8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Baseline Model</a:t>
            </a:r>
          </a:p>
          <a:p>
            <a:pPr algn="r"/>
            <a:r>
              <a:rPr lang="en-US" sz="4000" dirty="0">
                <a:solidFill>
                  <a:srgbClr val="FFFFFF"/>
                </a:solidFill>
              </a:rPr>
              <a:t>(Simple MLP)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2D961D19-32E1-C4BE-FD97-4410600A6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185" y="212018"/>
            <a:ext cx="7772400" cy="1195030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DADF3E14-9B53-B28E-271E-617664933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5850" y="1619066"/>
            <a:ext cx="8115070" cy="484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333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FB19D-08BB-ECF4-232E-01EE41B81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7">
            <a:extLst>
              <a:ext uri="{FF2B5EF4-FFF2-40B4-BE49-F238E27FC236}">
                <a16:creationId xmlns:a16="http://schemas.microsoft.com/office/drawing/2014/main" id="{F4C272ED-E957-EAFB-53E1-15B628E91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" name="Rectangle 9">
            <a:extLst>
              <a:ext uri="{FF2B5EF4-FFF2-40B4-BE49-F238E27FC236}">
                <a16:creationId xmlns:a16="http://schemas.microsoft.com/office/drawing/2014/main" id="{2278EEEA-FFB3-93DC-6CBE-65B178B72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FD15473B-3796-388D-BCD3-9F4A1A549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DE3D0BD-3DB9-3B8F-65F0-2BC412B40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8B8DE171-FC96-6373-B12B-D82901B54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27E83EE0-0289-CF91-A8AE-C6ED659D8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5C362768-4418-2E12-45F0-D6F6A6F38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ytuł 1">
            <a:extLst>
              <a:ext uri="{FF2B5EF4-FFF2-40B4-BE49-F238E27FC236}">
                <a16:creationId xmlns:a16="http://schemas.microsoft.com/office/drawing/2014/main" id="{65BAF1B4-88BE-A76C-23B7-E6208604E55A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Baseline Model</a:t>
            </a:r>
          </a:p>
          <a:p>
            <a:pPr algn="r"/>
            <a:r>
              <a:rPr lang="en-US" sz="4000" dirty="0">
                <a:solidFill>
                  <a:srgbClr val="FFFFFF"/>
                </a:solidFill>
              </a:rPr>
              <a:t>(Simple MLP)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E9D6DC62-32A4-72AD-DE5D-0FA3215DF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498" y="956236"/>
            <a:ext cx="7944056" cy="474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543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1951B-0286-0643-544B-6E91E4CF8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7">
            <a:extLst>
              <a:ext uri="{FF2B5EF4-FFF2-40B4-BE49-F238E27FC236}">
                <a16:creationId xmlns:a16="http://schemas.microsoft.com/office/drawing/2014/main" id="{E497A34D-DE5D-5D1B-5441-86E34A0D8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" name="Rectangle 9">
            <a:extLst>
              <a:ext uri="{FF2B5EF4-FFF2-40B4-BE49-F238E27FC236}">
                <a16:creationId xmlns:a16="http://schemas.microsoft.com/office/drawing/2014/main" id="{524038FF-8F3D-2236-B8E0-83CD633CD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E21B4BE7-AC31-2A7D-EE4E-E5DC04326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28138BF-4B02-3097-83BF-90178EE9D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7F356155-4D52-D876-B4F5-F999F5B56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74BC76C2-59AF-03CC-16F1-FC8E090E3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61C98007-B573-462C-D838-5341E7EA2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ytuł 1">
            <a:extLst>
              <a:ext uri="{FF2B5EF4-FFF2-40B4-BE49-F238E27FC236}">
                <a16:creationId xmlns:a16="http://schemas.microsoft.com/office/drawing/2014/main" id="{2DBCE5D8-5457-20ED-28D8-B6B8086C6732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Baseline Model</a:t>
            </a:r>
          </a:p>
          <a:p>
            <a:pPr algn="r"/>
            <a:r>
              <a:rPr lang="en-US" sz="4000" dirty="0">
                <a:solidFill>
                  <a:srgbClr val="FFFFFF"/>
                </a:solidFill>
              </a:rPr>
              <a:t>(Simple MLP)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2D24A2A7-9DF2-7309-381C-5E846C46B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514" y="511388"/>
            <a:ext cx="5477308" cy="547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303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A4CD03-B18E-C7F4-3BCC-1C615998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E7C82A7-8D19-D712-6A52-B3E8149B7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9A6D3D-328D-F73B-C32B-F3E3739C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EF0E70-40E0-B7A7-1995-5C80D8F4B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8335A8-0855-A457-2202-4618A4AFA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C72628-E4F2-60CA-9205-5B87F31A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7F14451-3060-F668-8E09-460F42FD4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284E0F-6605-4484-AB98-4739983B2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31C0F1A-C268-9ABD-F05C-559FB2472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b="1" dirty="0" err="1"/>
              <a:t>Description</a:t>
            </a:r>
            <a:r>
              <a:rPr lang="pl-PL" sz="2000" b="1" dirty="0"/>
              <a:t>:</a:t>
            </a:r>
          </a:p>
          <a:p>
            <a:pPr marL="0" indent="0">
              <a:buNone/>
            </a:pPr>
            <a:r>
              <a:rPr lang="pl-PL" sz="2000" dirty="0"/>
              <a:t>Architecture: </a:t>
            </a:r>
            <a:r>
              <a:rPr lang="pl-PL" sz="2000" dirty="0" err="1"/>
              <a:t>Two</a:t>
            </a:r>
            <a:r>
              <a:rPr lang="pl-PL" sz="2000" dirty="0"/>
              <a:t> </a:t>
            </a:r>
            <a:r>
              <a:rPr lang="pl-PL" sz="2000" dirty="0" err="1"/>
              <a:t>hidden</a:t>
            </a:r>
            <a:r>
              <a:rPr lang="pl-PL" sz="2000" dirty="0"/>
              <a:t> </a:t>
            </a:r>
            <a:r>
              <a:rPr lang="pl-PL" sz="2000" dirty="0" err="1"/>
              <a:t>layers</a:t>
            </a:r>
            <a:r>
              <a:rPr lang="pl-PL" sz="2000" dirty="0"/>
              <a:t> (</a:t>
            </a:r>
            <a:r>
              <a:rPr lang="pl-PL" sz="2000" dirty="0" err="1"/>
              <a:t>hidden_dims</a:t>
            </a:r>
            <a:r>
              <a:rPr lang="pl-PL" sz="2000" dirty="0"/>
              <a:t>=[128, 64])</a:t>
            </a:r>
          </a:p>
          <a:p>
            <a:pPr marL="0" indent="0">
              <a:buNone/>
            </a:pPr>
            <a:r>
              <a:rPr lang="pl-PL" sz="2000" dirty="0" err="1"/>
              <a:t>Normalization</a:t>
            </a:r>
            <a:r>
              <a:rPr lang="pl-PL" sz="2000" dirty="0"/>
              <a:t>: </a:t>
            </a:r>
            <a:r>
              <a:rPr lang="pl-PL" sz="2000" dirty="0" err="1"/>
              <a:t>LayerNorm</a:t>
            </a:r>
            <a:r>
              <a:rPr lang="pl-PL" sz="2000" dirty="0"/>
              <a:t> </a:t>
            </a:r>
            <a:r>
              <a:rPr lang="pl-PL" sz="2000" dirty="0" err="1"/>
              <a:t>after</a:t>
            </a:r>
            <a:r>
              <a:rPr lang="pl-PL" sz="2000" dirty="0"/>
              <a:t> </a:t>
            </a:r>
            <a:r>
              <a:rPr lang="pl-PL" sz="2000" dirty="0" err="1"/>
              <a:t>each</a:t>
            </a:r>
            <a:r>
              <a:rPr lang="pl-PL" sz="2000" dirty="0"/>
              <a:t> </a:t>
            </a:r>
            <a:r>
              <a:rPr lang="pl-PL" sz="2000" dirty="0" err="1"/>
              <a:t>hidden</a:t>
            </a:r>
            <a:r>
              <a:rPr lang="pl-PL" sz="2000" dirty="0"/>
              <a:t> </a:t>
            </a:r>
            <a:r>
              <a:rPr lang="pl-PL" sz="2000" dirty="0" err="1"/>
              <a:t>layer</a:t>
            </a:r>
            <a:endParaRPr lang="pl-PL" sz="2000" dirty="0"/>
          </a:p>
          <a:p>
            <a:pPr marL="0" indent="0">
              <a:buNone/>
            </a:pPr>
            <a:r>
              <a:rPr lang="pl-PL" sz="2000" dirty="0" err="1"/>
              <a:t>Regularization</a:t>
            </a:r>
            <a:r>
              <a:rPr lang="pl-PL" sz="2000" dirty="0"/>
              <a:t>: Progressive </a:t>
            </a:r>
            <a:r>
              <a:rPr lang="pl-PL" sz="2000" dirty="0" err="1"/>
              <a:t>dropout</a:t>
            </a:r>
            <a:r>
              <a:rPr lang="pl-PL" sz="2000" dirty="0"/>
              <a:t> [0.2, 0.1]</a:t>
            </a:r>
          </a:p>
          <a:p>
            <a:pPr marL="0" indent="0">
              <a:buNone/>
            </a:pPr>
            <a:r>
              <a:rPr lang="pl-PL" sz="2000" dirty="0" err="1"/>
              <a:t>Optimizer</a:t>
            </a:r>
            <a:r>
              <a:rPr lang="pl-PL" sz="2000" dirty="0"/>
              <a:t>: Adam with </a:t>
            </a:r>
            <a:r>
              <a:rPr lang="pl-PL" sz="2000" dirty="0" err="1"/>
              <a:t>lr</a:t>
            </a:r>
            <a:r>
              <a:rPr lang="pl-PL" sz="2000" dirty="0"/>
              <a:t>=0.001, </a:t>
            </a:r>
            <a:r>
              <a:rPr lang="pl-PL" sz="2000" dirty="0" err="1"/>
              <a:t>weight_decay</a:t>
            </a:r>
            <a:r>
              <a:rPr lang="pl-PL" sz="2000" dirty="0"/>
              <a:t>=1e-4</a:t>
            </a:r>
          </a:p>
          <a:p>
            <a:pPr marL="0" indent="0">
              <a:buNone/>
            </a:pPr>
            <a:r>
              <a:rPr lang="pl-PL" sz="2000" dirty="0"/>
              <a:t>Learning </a:t>
            </a:r>
            <a:r>
              <a:rPr lang="pl-PL" sz="2000" dirty="0" err="1"/>
              <a:t>rate</a:t>
            </a:r>
            <a:r>
              <a:rPr lang="pl-PL" sz="2000" dirty="0"/>
              <a:t>: </a:t>
            </a:r>
            <a:r>
              <a:rPr lang="pl-PL" sz="2000" dirty="0" err="1"/>
              <a:t>ReduceLROnPlateau</a:t>
            </a:r>
            <a:r>
              <a:rPr lang="pl-PL" sz="2000" dirty="0"/>
              <a:t> </a:t>
            </a:r>
            <a:r>
              <a:rPr lang="pl-PL" sz="2000" dirty="0" err="1"/>
              <a:t>scheduler</a:t>
            </a:r>
            <a:r>
              <a:rPr lang="pl-PL" sz="2000" dirty="0"/>
              <a:t> (</a:t>
            </a:r>
            <a:r>
              <a:rPr lang="pl-PL" sz="2000" dirty="0" err="1"/>
              <a:t>reduces</a:t>
            </a:r>
            <a:r>
              <a:rPr lang="pl-PL" sz="2000" dirty="0"/>
              <a:t> LR </a:t>
            </a:r>
            <a:r>
              <a:rPr lang="pl-PL" sz="2000" dirty="0" err="1"/>
              <a:t>when</a:t>
            </a:r>
            <a:r>
              <a:rPr lang="pl-PL" sz="2000" dirty="0"/>
              <a:t> </a:t>
            </a:r>
            <a:r>
              <a:rPr lang="pl-PL" sz="2000" dirty="0" err="1"/>
              <a:t>validation</a:t>
            </a:r>
            <a:r>
              <a:rPr lang="pl-PL" sz="2000" dirty="0"/>
              <a:t> </a:t>
            </a:r>
            <a:r>
              <a:rPr lang="pl-PL" sz="2000" dirty="0" err="1"/>
              <a:t>loss</a:t>
            </a:r>
            <a:r>
              <a:rPr lang="pl-PL" sz="2000" dirty="0"/>
              <a:t> </a:t>
            </a:r>
            <a:r>
              <a:rPr lang="pl-PL" sz="2000" dirty="0" err="1"/>
              <a:t>plateaus</a:t>
            </a:r>
            <a:r>
              <a:rPr lang="pl-PL" sz="2000" dirty="0"/>
              <a:t>)</a:t>
            </a:r>
          </a:p>
          <a:p>
            <a:pPr marL="0" indent="0">
              <a:buNone/>
            </a:pPr>
            <a:endParaRPr lang="pl-PL" sz="2000" b="1" dirty="0"/>
          </a:p>
          <a:p>
            <a:pPr marL="0" indent="0">
              <a:buNone/>
            </a:pPr>
            <a:endParaRPr lang="pl-PL" sz="2000" b="1" dirty="0"/>
          </a:p>
          <a:p>
            <a:pPr marL="0" indent="0">
              <a:buNone/>
            </a:pPr>
            <a:endParaRPr lang="pl-PL" sz="2000" b="1" dirty="0"/>
          </a:p>
          <a:p>
            <a:pPr marL="0" indent="0">
              <a:buNone/>
            </a:pPr>
            <a:endParaRPr lang="pl-PL" sz="2000" b="1" dirty="0"/>
          </a:p>
          <a:p>
            <a:pPr marL="0" indent="0">
              <a:buNone/>
            </a:pPr>
            <a:r>
              <a:rPr lang="pl-PL" sz="2000" b="1" dirty="0"/>
              <a:t>FILE: 3-3-2.ipynb</a:t>
            </a: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A351558A-85AD-4CBC-DA5A-A607948505CD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Regularized MLP (</a:t>
            </a:r>
            <a:r>
              <a:rPr lang="en-US" sz="4000" dirty="0" err="1">
                <a:solidFill>
                  <a:srgbClr val="FFFFFF"/>
                </a:solidFill>
              </a:rPr>
              <a:t>LayerNorm</a:t>
            </a:r>
            <a:r>
              <a:rPr lang="en-US" sz="4000" dirty="0">
                <a:solidFill>
                  <a:srgbClr val="FFFFFF"/>
                </a:solidFill>
              </a:rPr>
              <a:t> + Dropout)</a:t>
            </a:r>
          </a:p>
        </p:txBody>
      </p:sp>
    </p:spTree>
    <p:extLst>
      <p:ext uri="{BB962C8B-B14F-4D97-AF65-F5344CB8AC3E}">
        <p14:creationId xmlns:p14="http://schemas.microsoft.com/office/powerpoint/2010/main" val="608097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947A53-2579-0D15-1BF8-E4BA46F58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FC6C85-F024-B767-B0C9-68F0C8749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26F403A-E656-8D51-0DE5-9E2B3E922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4C6A9C-5B4B-143E-D539-84DFA400D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8F17BC-BE58-62D2-3D88-9D613EEAD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943BD9-AC54-2D46-A819-DF51E3759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8A64962-E363-8093-9D60-04D15A24E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58CA06-837D-D31A-F0E0-136179320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BCB1195-0476-40A5-A09E-A0691CD2F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968" y="1681502"/>
            <a:ext cx="7709220" cy="4603684"/>
          </a:xfrm>
          <a:prstGeom prst="rect">
            <a:avLst/>
          </a:prstGeom>
        </p:spPr>
      </p:pic>
      <p:sp>
        <p:nvSpPr>
          <p:cNvPr id="7" name="Tytuł 1">
            <a:extLst>
              <a:ext uri="{FF2B5EF4-FFF2-40B4-BE49-F238E27FC236}">
                <a16:creationId xmlns:a16="http://schemas.microsoft.com/office/drawing/2014/main" id="{93F54CE1-7265-83FD-574B-F5B6420C650D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Regularized MLP (</a:t>
            </a:r>
            <a:r>
              <a:rPr lang="en-US" sz="4000" dirty="0" err="1">
                <a:solidFill>
                  <a:srgbClr val="FFFFFF"/>
                </a:solidFill>
              </a:rPr>
              <a:t>LayerNorm</a:t>
            </a:r>
            <a:r>
              <a:rPr lang="en-US" sz="4000" dirty="0">
                <a:solidFill>
                  <a:srgbClr val="FFFFFF"/>
                </a:solidFill>
              </a:rPr>
              <a:t> + Dropout)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BBB1C186-3474-F600-2344-F26A8E0EF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968" y="326704"/>
            <a:ext cx="7772400" cy="102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152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A254C3-1CD1-CDF0-2EEF-3B4EDC3E8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61B3CAE-4434-3368-C555-50328B43F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5441873-71D1-EFAD-314C-4077F0D81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3A5B32-3BC1-5A1B-CFA7-A8311DDEE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6F7038-0827-1889-253E-E84A371E1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71FC84-71E5-8A74-DE86-E33911550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8EC3769-704D-5A74-8084-C73DF3610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3B3C21-9D09-A0DB-541E-44480D21A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3AAF26A-BC4A-42A1-8232-F5972B31B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pl-PL" sz="2000" b="1" dirty="0" err="1"/>
              <a:t>Description</a:t>
            </a:r>
            <a:r>
              <a:rPr lang="pl-PL" sz="2000" b="1" dirty="0"/>
              <a:t>:</a:t>
            </a:r>
          </a:p>
          <a:p>
            <a:pPr marL="0" indent="0">
              <a:buNone/>
            </a:pPr>
            <a:r>
              <a:rPr lang="pl-PL" sz="2000" dirty="0"/>
              <a:t>Architecture: </a:t>
            </a:r>
            <a:r>
              <a:rPr lang="pl-PL" sz="2000" dirty="0" err="1"/>
              <a:t>Feature</a:t>
            </a:r>
            <a:r>
              <a:rPr lang="pl-PL" sz="2000" dirty="0"/>
              <a:t> transformer with 5 </a:t>
            </a:r>
            <a:r>
              <a:rPr lang="pl-PL" sz="2000" dirty="0" err="1"/>
              <a:t>decision</a:t>
            </a:r>
            <a:r>
              <a:rPr lang="pl-PL" sz="2000" dirty="0"/>
              <a:t> </a:t>
            </a:r>
            <a:r>
              <a:rPr lang="pl-PL" sz="2000" dirty="0" err="1"/>
              <a:t>steps</a:t>
            </a:r>
            <a:r>
              <a:rPr lang="pl-PL" sz="2000" dirty="0"/>
              <a:t> </a:t>
            </a:r>
            <a:r>
              <a:rPr lang="pl-PL" sz="2000" dirty="0" err="1"/>
              <a:t>using</a:t>
            </a:r>
            <a:r>
              <a:rPr lang="pl-PL" sz="2000" dirty="0"/>
              <a:t> </a:t>
            </a:r>
            <a:r>
              <a:rPr lang="pl-PL" sz="2000" dirty="0" err="1"/>
              <a:t>shared</a:t>
            </a:r>
            <a:r>
              <a:rPr lang="pl-PL" sz="2000" dirty="0"/>
              <a:t> and independent </a:t>
            </a:r>
            <a:r>
              <a:rPr lang="pl-PL" sz="2000" dirty="0" err="1"/>
              <a:t>blocks</a:t>
            </a:r>
            <a:r>
              <a:rPr lang="pl-PL" sz="2000" dirty="0"/>
              <a:t> (</a:t>
            </a:r>
            <a:r>
              <a:rPr lang="pl-PL" sz="2000" dirty="0" err="1"/>
              <a:t>n_d</a:t>
            </a:r>
            <a:r>
              <a:rPr lang="pl-PL" sz="2000" dirty="0"/>
              <a:t> = 64, </a:t>
            </a:r>
            <a:r>
              <a:rPr lang="pl-PL" sz="2000" dirty="0" err="1"/>
              <a:t>n_a</a:t>
            </a:r>
            <a:r>
              <a:rPr lang="pl-PL" sz="2000" dirty="0"/>
              <a:t> = 64, </a:t>
            </a:r>
            <a:r>
              <a:rPr lang="pl-PL" sz="2000" dirty="0" err="1"/>
              <a:t>n_shared</a:t>
            </a:r>
            <a:r>
              <a:rPr lang="pl-PL" sz="2000" dirty="0"/>
              <a:t> = 2, </a:t>
            </a:r>
            <a:r>
              <a:rPr lang="pl-PL" sz="2000" dirty="0" err="1"/>
              <a:t>n_independent</a:t>
            </a:r>
            <a:r>
              <a:rPr lang="pl-PL" sz="2000" dirty="0"/>
              <a:t> = 2)</a:t>
            </a:r>
          </a:p>
          <a:p>
            <a:pPr marL="0" indent="0">
              <a:buNone/>
            </a:pPr>
            <a:r>
              <a:rPr lang="pl-PL" sz="2000" dirty="0" err="1"/>
              <a:t>Feature</a:t>
            </a:r>
            <a:r>
              <a:rPr lang="pl-PL" sz="2000" dirty="0"/>
              <a:t> </a:t>
            </a:r>
            <a:r>
              <a:rPr lang="pl-PL" sz="2000" dirty="0" err="1"/>
              <a:t>selection</a:t>
            </a:r>
            <a:r>
              <a:rPr lang="pl-PL" sz="2000" dirty="0"/>
              <a:t>: </a:t>
            </a:r>
            <a:r>
              <a:rPr lang="pl-PL" sz="2000" dirty="0" err="1"/>
              <a:t>Entmax-based</a:t>
            </a:r>
            <a:r>
              <a:rPr lang="pl-PL" sz="2000" dirty="0"/>
              <a:t> </a:t>
            </a:r>
            <a:r>
              <a:rPr lang="pl-PL" sz="2000" dirty="0" err="1"/>
              <a:t>sparse</a:t>
            </a:r>
            <a:r>
              <a:rPr lang="pl-PL" sz="2000" dirty="0"/>
              <a:t> </a:t>
            </a:r>
            <a:r>
              <a:rPr lang="pl-PL" sz="2000" dirty="0" err="1"/>
              <a:t>masks</a:t>
            </a:r>
            <a:r>
              <a:rPr lang="pl-PL" sz="2000" dirty="0"/>
              <a:t> </a:t>
            </a:r>
            <a:r>
              <a:rPr lang="pl-PL" sz="2000" dirty="0" err="1"/>
              <a:t>dynamically</a:t>
            </a:r>
            <a:r>
              <a:rPr lang="pl-PL" sz="2000" dirty="0"/>
              <a:t> </a:t>
            </a:r>
            <a:r>
              <a:rPr lang="pl-PL" sz="2000" dirty="0" err="1"/>
              <a:t>selecting</a:t>
            </a:r>
            <a:r>
              <a:rPr lang="pl-PL" sz="2000" dirty="0"/>
              <a:t> </a:t>
            </a:r>
            <a:r>
              <a:rPr lang="pl-PL" sz="2000" dirty="0" err="1"/>
              <a:t>relevant</a:t>
            </a:r>
            <a:r>
              <a:rPr lang="pl-PL" sz="2000" dirty="0"/>
              <a:t> </a:t>
            </a:r>
            <a:r>
              <a:rPr lang="pl-PL" sz="2000" dirty="0" err="1"/>
              <a:t>features</a:t>
            </a:r>
            <a:r>
              <a:rPr lang="pl-PL" sz="2000" dirty="0"/>
              <a:t> </a:t>
            </a:r>
            <a:r>
              <a:rPr lang="pl-PL" sz="2000" dirty="0" err="1"/>
              <a:t>at</a:t>
            </a:r>
            <a:r>
              <a:rPr lang="pl-PL" sz="2000" dirty="0"/>
              <a:t> </a:t>
            </a:r>
            <a:r>
              <a:rPr lang="pl-PL" sz="2000" dirty="0" err="1"/>
              <a:t>each</a:t>
            </a:r>
            <a:r>
              <a:rPr lang="pl-PL" sz="2000" dirty="0"/>
              <a:t> step (</a:t>
            </a:r>
            <a:r>
              <a:rPr lang="pl-PL" sz="2000" dirty="0" err="1"/>
              <a:t>mask_type</a:t>
            </a:r>
            <a:r>
              <a:rPr lang="pl-PL" sz="2000" dirty="0"/>
              <a:t>=‘</a:t>
            </a:r>
            <a:r>
              <a:rPr lang="pl-PL" sz="2000" dirty="0" err="1"/>
              <a:t>entmax</a:t>
            </a:r>
            <a:r>
              <a:rPr lang="pl-PL" sz="2000" dirty="0"/>
              <a:t>’)</a:t>
            </a:r>
          </a:p>
          <a:p>
            <a:pPr marL="0" indent="0">
              <a:buNone/>
            </a:pPr>
            <a:r>
              <a:rPr lang="pl-PL" sz="2000" dirty="0" err="1"/>
              <a:t>Regularization</a:t>
            </a:r>
            <a:r>
              <a:rPr lang="pl-PL" sz="2000" dirty="0"/>
              <a:t>: </a:t>
            </a:r>
            <a:r>
              <a:rPr lang="pl-PL" sz="2000" dirty="0" err="1"/>
              <a:t>Built</a:t>
            </a:r>
            <a:r>
              <a:rPr lang="pl-PL" sz="2000" dirty="0"/>
              <a:t>-in </a:t>
            </a:r>
            <a:r>
              <a:rPr lang="pl-PL" sz="2000" dirty="0" err="1"/>
              <a:t>sparsity</a:t>
            </a:r>
            <a:r>
              <a:rPr lang="pl-PL" sz="2000" dirty="0"/>
              <a:t> </a:t>
            </a:r>
            <a:r>
              <a:rPr lang="pl-PL" sz="2000" dirty="0" err="1"/>
              <a:t>constraint</a:t>
            </a:r>
            <a:r>
              <a:rPr lang="pl-PL" sz="2000" dirty="0"/>
              <a:t> </a:t>
            </a:r>
            <a:r>
              <a:rPr lang="pl-PL" sz="2000" dirty="0" err="1"/>
              <a:t>controlled</a:t>
            </a:r>
            <a:r>
              <a:rPr lang="pl-PL" sz="2000" dirty="0"/>
              <a:t> by </a:t>
            </a:r>
            <a:r>
              <a:rPr lang="el-GR" sz="2000" dirty="0"/>
              <a:t>γ = 1.5 </a:t>
            </a:r>
            <a:r>
              <a:rPr lang="pl-PL" sz="2000" dirty="0"/>
              <a:t>and </a:t>
            </a:r>
            <a:r>
              <a:rPr lang="pl-PL" sz="2000" dirty="0" err="1"/>
              <a:t>virtual_batch_size</a:t>
            </a:r>
            <a:r>
              <a:rPr lang="pl-PL" sz="2000" dirty="0"/>
              <a:t> = 128 (</a:t>
            </a:r>
            <a:r>
              <a:rPr lang="pl-PL" sz="2000" dirty="0" err="1"/>
              <a:t>ghost</a:t>
            </a:r>
            <a:r>
              <a:rPr lang="pl-PL" sz="2000" dirty="0"/>
              <a:t> </a:t>
            </a:r>
            <a:r>
              <a:rPr lang="pl-PL" sz="2000" dirty="0" err="1"/>
              <a:t>batch</a:t>
            </a:r>
            <a:r>
              <a:rPr lang="pl-PL" sz="2000" dirty="0"/>
              <a:t> </a:t>
            </a:r>
            <a:r>
              <a:rPr lang="pl-PL" sz="2000" dirty="0" err="1"/>
              <a:t>normalization</a:t>
            </a:r>
            <a:r>
              <a:rPr lang="pl-PL" sz="2000" dirty="0"/>
              <a:t>)</a:t>
            </a:r>
          </a:p>
          <a:p>
            <a:pPr marL="0" indent="0">
              <a:buNone/>
            </a:pPr>
            <a:r>
              <a:rPr lang="pl-PL" sz="2000" dirty="0" err="1"/>
              <a:t>Optimizer</a:t>
            </a:r>
            <a:r>
              <a:rPr lang="pl-PL" sz="2000" dirty="0"/>
              <a:t>: Adam with </a:t>
            </a:r>
            <a:r>
              <a:rPr lang="pl-PL" sz="2000" dirty="0" err="1"/>
              <a:t>lr</a:t>
            </a:r>
            <a:r>
              <a:rPr lang="pl-PL" sz="2000" dirty="0"/>
              <a:t>=0.02</a:t>
            </a:r>
          </a:p>
          <a:p>
            <a:pPr marL="0" indent="0">
              <a:buNone/>
            </a:pPr>
            <a:r>
              <a:rPr lang="pl-PL" sz="2000" dirty="0"/>
              <a:t>Learning </a:t>
            </a:r>
            <a:r>
              <a:rPr lang="pl-PL" sz="2000" dirty="0" err="1"/>
              <a:t>rate</a:t>
            </a:r>
            <a:r>
              <a:rPr lang="pl-PL" sz="2000" dirty="0"/>
              <a:t>: </a:t>
            </a:r>
            <a:r>
              <a:rPr lang="pl-PL" sz="2000" dirty="0" err="1"/>
              <a:t>Early</a:t>
            </a:r>
            <a:r>
              <a:rPr lang="pl-PL" sz="2000" dirty="0"/>
              <a:t> </a:t>
            </a:r>
            <a:r>
              <a:rPr lang="pl-PL" sz="2000" dirty="0" err="1"/>
              <a:t>stopping</a:t>
            </a:r>
            <a:r>
              <a:rPr lang="pl-PL" sz="2000" dirty="0"/>
              <a:t> with </a:t>
            </a:r>
            <a:r>
              <a:rPr lang="pl-PL" sz="2000" dirty="0" err="1"/>
              <a:t>validation</a:t>
            </a:r>
            <a:r>
              <a:rPr lang="pl-PL" sz="2000" dirty="0"/>
              <a:t> MAE monitoring (</a:t>
            </a:r>
            <a:r>
              <a:rPr lang="pl-PL" sz="2000" dirty="0" err="1"/>
              <a:t>patience</a:t>
            </a:r>
            <a:r>
              <a:rPr lang="pl-PL" sz="2000" dirty="0"/>
              <a:t> = 10), </a:t>
            </a:r>
            <a:r>
              <a:rPr lang="pl-PL" sz="2000" dirty="0" err="1"/>
              <a:t>max_epochs</a:t>
            </a:r>
            <a:r>
              <a:rPr lang="pl-PL" sz="2000" dirty="0"/>
              <a:t> = 100</a:t>
            </a:r>
          </a:p>
          <a:p>
            <a:pPr marL="0" indent="0">
              <a:buNone/>
            </a:pPr>
            <a:endParaRPr lang="pl-PL" sz="2000" b="1" dirty="0"/>
          </a:p>
          <a:p>
            <a:pPr marL="0" indent="0">
              <a:buNone/>
            </a:pPr>
            <a:endParaRPr lang="pl-PL" sz="2000" b="1" dirty="0"/>
          </a:p>
          <a:p>
            <a:pPr marL="0" indent="0">
              <a:buNone/>
            </a:pPr>
            <a:endParaRPr lang="pl-PL" sz="2000" b="1" dirty="0"/>
          </a:p>
          <a:p>
            <a:pPr marL="0" indent="0">
              <a:buNone/>
            </a:pPr>
            <a:endParaRPr lang="pl-PL" sz="2000" b="1" dirty="0"/>
          </a:p>
          <a:p>
            <a:pPr marL="0" indent="0">
              <a:buNone/>
            </a:pPr>
            <a:r>
              <a:rPr lang="pl-PL" sz="2000" b="1" dirty="0"/>
              <a:t>FILE: 3-4.ipynb</a:t>
            </a: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69A4DF61-67BF-4E51-B570-09925AF11CC9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TabNet Model</a:t>
            </a: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594D5F5D-A128-035B-1CDF-DAF30B965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332" y="4400547"/>
            <a:ext cx="7772400" cy="115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35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FC8F37-A7FD-DB70-2EEB-3C5DC99EB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37D2B8B-4E02-F0C1-5179-E8D7DC887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14DA35-B71D-5C55-667D-FD8A5D79E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27A15F-F8D7-8CE6-6D3E-AF2E382C7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981BDB-C91F-A678-3BB4-F33EED0C4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84057A-7BBA-A1C8-DF87-A8244FE50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C1589C-DD01-2138-784D-F7CD77480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C3AE34-A865-58B9-5FEC-37BA15BC7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9A0CCB1-98DB-A13D-731A-4E2005C0F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1"/>
            <a:ext cx="6555347" cy="23549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dirty="0"/>
              <a:t>TabNet </a:t>
            </a:r>
            <a:r>
              <a:rPr lang="pl-PL" sz="2000" dirty="0" err="1"/>
              <a:t>is</a:t>
            </a:r>
            <a:r>
              <a:rPr lang="pl-PL" sz="2000" dirty="0"/>
              <a:t> a </a:t>
            </a:r>
            <a:r>
              <a:rPr lang="pl-PL" sz="2000" dirty="0" err="1"/>
              <a:t>widely</a:t>
            </a:r>
            <a:r>
              <a:rPr lang="pl-PL" sz="2000" dirty="0"/>
              <a:t> </a:t>
            </a:r>
            <a:r>
              <a:rPr lang="pl-PL" sz="2000" dirty="0" err="1"/>
              <a:t>recognized</a:t>
            </a:r>
            <a:r>
              <a:rPr lang="pl-PL" sz="2000" dirty="0"/>
              <a:t> </a:t>
            </a:r>
            <a:r>
              <a:rPr lang="pl-PL" sz="2000" dirty="0" err="1"/>
              <a:t>deep</a:t>
            </a:r>
            <a:r>
              <a:rPr lang="pl-PL" sz="2000" dirty="0"/>
              <a:t> learning </a:t>
            </a:r>
            <a:r>
              <a:rPr lang="pl-PL" sz="2000" dirty="0" err="1"/>
              <a:t>architecture</a:t>
            </a:r>
            <a:r>
              <a:rPr lang="pl-PL" sz="2000" dirty="0"/>
              <a:t> for </a:t>
            </a:r>
            <a:r>
              <a:rPr lang="pl-PL" sz="2000" dirty="0" err="1"/>
              <a:t>tabular</a:t>
            </a:r>
            <a:r>
              <a:rPr lang="pl-PL" sz="2000" dirty="0"/>
              <a:t> data, </a:t>
            </a:r>
            <a:r>
              <a:rPr lang="pl-PL" sz="2000" dirty="0" err="1"/>
              <a:t>introduced</a:t>
            </a:r>
            <a:r>
              <a:rPr lang="pl-PL" sz="2000" dirty="0"/>
              <a:t> by Google </a:t>
            </a:r>
            <a:r>
              <a:rPr lang="pl-PL" sz="2000" dirty="0" err="1"/>
              <a:t>Research</a:t>
            </a:r>
            <a:r>
              <a:rPr lang="pl-PL" sz="2000" dirty="0"/>
              <a:t>, </a:t>
            </a:r>
            <a:r>
              <a:rPr lang="pl-PL" sz="2000" dirty="0" err="1"/>
              <a:t>which</a:t>
            </a:r>
            <a:r>
              <a:rPr lang="pl-PL" sz="2000" dirty="0"/>
              <a:t> </a:t>
            </a:r>
            <a:r>
              <a:rPr lang="pl-PL" sz="2000" dirty="0" err="1"/>
              <a:t>combines</a:t>
            </a:r>
            <a:r>
              <a:rPr lang="pl-PL" sz="2000" dirty="0"/>
              <a:t> </a:t>
            </a:r>
            <a:r>
              <a:rPr lang="pl-PL" sz="2000" dirty="0" err="1"/>
              <a:t>sequential</a:t>
            </a:r>
            <a:r>
              <a:rPr lang="pl-PL" sz="2000" dirty="0"/>
              <a:t> </a:t>
            </a:r>
            <a:r>
              <a:rPr lang="pl-PL" sz="2000" dirty="0" err="1"/>
              <a:t>feature</a:t>
            </a:r>
            <a:r>
              <a:rPr lang="pl-PL" sz="2000" dirty="0"/>
              <a:t> </a:t>
            </a:r>
            <a:r>
              <a:rPr lang="pl-PL" sz="2000" dirty="0" err="1"/>
              <a:t>selection</a:t>
            </a:r>
            <a:r>
              <a:rPr lang="pl-PL" sz="2000" dirty="0"/>
              <a:t> with </a:t>
            </a:r>
            <a:r>
              <a:rPr lang="pl-PL" sz="2000" dirty="0" err="1"/>
              <a:t>sparsity-inducing</a:t>
            </a:r>
            <a:r>
              <a:rPr lang="pl-PL" sz="2000" dirty="0"/>
              <a:t> </a:t>
            </a:r>
            <a:r>
              <a:rPr lang="pl-PL" sz="2000" dirty="0" err="1"/>
              <a:t>attention</a:t>
            </a:r>
            <a:r>
              <a:rPr lang="pl-PL" sz="2000" dirty="0"/>
              <a:t> </a:t>
            </a:r>
            <a:r>
              <a:rPr lang="pl-PL" sz="2000" dirty="0" err="1"/>
              <a:t>masks</a:t>
            </a:r>
            <a:r>
              <a:rPr lang="pl-PL" sz="2000" dirty="0"/>
              <a:t>. </a:t>
            </a:r>
            <a:r>
              <a:rPr lang="pl-PL" sz="2000" dirty="0" err="1"/>
              <a:t>Although</a:t>
            </a:r>
            <a:r>
              <a:rPr lang="pl-PL" sz="2000" dirty="0"/>
              <a:t> not as </a:t>
            </a:r>
            <a:r>
              <a:rPr lang="pl-PL" sz="2000" dirty="0" err="1"/>
              <a:t>commonly</a:t>
            </a:r>
            <a:r>
              <a:rPr lang="pl-PL" sz="2000" dirty="0"/>
              <a:t> </a:t>
            </a:r>
            <a:r>
              <a:rPr lang="pl-PL" sz="2000" dirty="0" err="1"/>
              <a:t>used</a:t>
            </a:r>
            <a:r>
              <a:rPr lang="pl-PL" sz="2000" dirty="0"/>
              <a:t> in </a:t>
            </a:r>
            <a:r>
              <a:rPr lang="pl-PL" sz="2000" dirty="0" err="1"/>
              <a:t>industry</a:t>
            </a:r>
            <a:r>
              <a:rPr lang="pl-PL" sz="2000" dirty="0"/>
              <a:t> as gradient </a:t>
            </a:r>
            <a:r>
              <a:rPr lang="pl-PL" sz="2000" dirty="0" err="1"/>
              <a:t>boosting</a:t>
            </a:r>
            <a:r>
              <a:rPr lang="pl-PL" sz="2000" dirty="0"/>
              <a:t> </a:t>
            </a:r>
            <a:r>
              <a:rPr lang="pl-PL" sz="2000" dirty="0" err="1"/>
              <a:t>models</a:t>
            </a:r>
            <a:r>
              <a:rPr lang="pl-PL" sz="2000" dirty="0"/>
              <a:t>, </a:t>
            </a:r>
            <a:r>
              <a:rPr lang="pl-PL" sz="2000" dirty="0" err="1"/>
              <a:t>it</a:t>
            </a:r>
            <a:r>
              <a:rPr lang="pl-PL" sz="2000" dirty="0"/>
              <a:t> </a:t>
            </a:r>
            <a:r>
              <a:rPr lang="pl-PL" sz="2000" dirty="0" err="1"/>
              <a:t>has</a:t>
            </a:r>
            <a:r>
              <a:rPr lang="pl-PL" sz="2000" dirty="0"/>
              <a:t> </a:t>
            </a:r>
            <a:r>
              <a:rPr lang="pl-PL" sz="2000" dirty="0" err="1"/>
              <a:t>become</a:t>
            </a:r>
            <a:r>
              <a:rPr lang="pl-PL" sz="2000" dirty="0"/>
              <a:t> a standard point of </a:t>
            </a:r>
            <a:r>
              <a:rPr lang="pl-PL" sz="2000" dirty="0" err="1"/>
              <a:t>reference</a:t>
            </a:r>
            <a:r>
              <a:rPr lang="pl-PL" sz="2000" dirty="0"/>
              <a:t> in </a:t>
            </a:r>
            <a:r>
              <a:rPr lang="pl-PL" sz="2000" dirty="0" err="1"/>
              <a:t>academic</a:t>
            </a:r>
            <a:r>
              <a:rPr lang="pl-PL" sz="2000" dirty="0"/>
              <a:t> </a:t>
            </a:r>
            <a:r>
              <a:rPr lang="pl-PL" sz="2000" dirty="0" err="1"/>
              <a:t>work</a:t>
            </a:r>
            <a:r>
              <a:rPr lang="pl-PL" sz="2000" dirty="0"/>
              <a:t> on </a:t>
            </a:r>
            <a:r>
              <a:rPr lang="pl-PL" sz="2000" dirty="0" err="1"/>
              <a:t>neural</a:t>
            </a:r>
            <a:r>
              <a:rPr lang="pl-PL" sz="2000" dirty="0"/>
              <a:t> networks for </a:t>
            </a:r>
            <a:r>
              <a:rPr lang="pl-PL" sz="2000" dirty="0" err="1"/>
              <a:t>structured</a:t>
            </a:r>
            <a:r>
              <a:rPr lang="pl-PL" sz="2000" dirty="0"/>
              <a:t> data.</a:t>
            </a: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8CFBE1E5-5E8C-E2ED-882F-53FA45645EC3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TabNet Model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1765EA7D-9CB2-E9E2-E3A5-4CD36B6DE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224" y="2865301"/>
            <a:ext cx="5547888" cy="381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62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033DE-7220-FB9B-E823-EC8C80B8A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A421FAE-986B-DB8B-BBBF-2CDF497C6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7D81245-9315-13D9-4E36-0BD77EE65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16B82E-9182-64C2-B330-EB46B4D02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446ADE-709D-FC40-FB2E-30FA9D0EF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2C7803-7B2A-B7F8-B6D4-E76405F3E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A972D-D1E2-4E9B-02F4-E484F109E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0D6D59-BA6D-C696-AAB5-1D9234ED0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A94DE1D-EEFE-54C5-C22C-00B27C0C6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548" y="285008"/>
            <a:ext cx="7335151" cy="6127667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pl-PL" sz="2000" dirty="0"/>
              <a:t>FT-Transformer </a:t>
            </a:r>
            <a:r>
              <a:rPr lang="pl-PL" sz="2000" dirty="0" err="1"/>
              <a:t>is</a:t>
            </a:r>
            <a:r>
              <a:rPr lang="pl-PL" sz="2000" dirty="0"/>
              <a:t> a </a:t>
            </a:r>
            <a:r>
              <a:rPr lang="pl-PL" sz="2000" dirty="0" err="1"/>
              <a:t>neural</a:t>
            </a:r>
            <a:r>
              <a:rPr lang="pl-PL" sz="2000" dirty="0"/>
              <a:t> </a:t>
            </a:r>
            <a:r>
              <a:rPr lang="pl-PL" sz="2000" dirty="0" err="1"/>
              <a:t>architecture</a:t>
            </a:r>
            <a:r>
              <a:rPr lang="pl-PL" sz="2000" dirty="0"/>
              <a:t> </a:t>
            </a:r>
            <a:r>
              <a:rPr lang="pl-PL" sz="2000" dirty="0" err="1"/>
              <a:t>designed</a:t>
            </a:r>
            <a:r>
              <a:rPr lang="pl-PL" sz="2000" dirty="0"/>
              <a:t> </a:t>
            </a:r>
            <a:r>
              <a:rPr lang="pl-PL" sz="2000" dirty="0" err="1"/>
              <a:t>specifically</a:t>
            </a:r>
            <a:r>
              <a:rPr lang="pl-PL" sz="2000" dirty="0"/>
              <a:t> for </a:t>
            </a:r>
            <a:r>
              <a:rPr lang="pl-PL" sz="2000" dirty="0" err="1"/>
              <a:t>tabular</a:t>
            </a:r>
            <a:r>
              <a:rPr lang="pl-PL" sz="2000" dirty="0"/>
              <a:t> data.</a:t>
            </a:r>
          </a:p>
          <a:p>
            <a:pPr marL="0" indent="0">
              <a:buNone/>
            </a:pPr>
            <a:r>
              <a:rPr lang="pl-PL" sz="2000" dirty="0" err="1"/>
              <a:t>Instead</a:t>
            </a:r>
            <a:r>
              <a:rPr lang="pl-PL" sz="2000" dirty="0"/>
              <a:t> of </a:t>
            </a:r>
            <a:r>
              <a:rPr lang="pl-PL" sz="2000" dirty="0" err="1"/>
              <a:t>processing</a:t>
            </a:r>
            <a:r>
              <a:rPr lang="pl-PL" sz="2000" dirty="0"/>
              <a:t> </a:t>
            </a:r>
            <a:r>
              <a:rPr lang="pl-PL" sz="2000" dirty="0" err="1"/>
              <a:t>features</a:t>
            </a:r>
            <a:r>
              <a:rPr lang="pl-PL" sz="2000" dirty="0"/>
              <a:t> as a </a:t>
            </a:r>
            <a:r>
              <a:rPr lang="pl-PL" sz="2000" dirty="0" err="1"/>
              <a:t>flat</a:t>
            </a:r>
            <a:r>
              <a:rPr lang="pl-PL" sz="2000" dirty="0"/>
              <a:t> </a:t>
            </a:r>
            <a:r>
              <a:rPr lang="pl-PL" sz="2000" dirty="0" err="1"/>
              <a:t>numerical</a:t>
            </a:r>
            <a:r>
              <a:rPr lang="pl-PL" sz="2000" dirty="0"/>
              <a:t> </a:t>
            </a:r>
            <a:r>
              <a:rPr lang="pl-PL" sz="2000" dirty="0" err="1"/>
              <a:t>vector</a:t>
            </a:r>
            <a:r>
              <a:rPr lang="pl-PL" sz="2000" dirty="0"/>
              <a:t> </a:t>
            </a:r>
            <a:r>
              <a:rPr lang="pl-PL" sz="2000" dirty="0" err="1"/>
              <a:t>like</a:t>
            </a:r>
            <a:r>
              <a:rPr lang="pl-PL" sz="2000" dirty="0"/>
              <a:t> </a:t>
            </a:r>
            <a:r>
              <a:rPr lang="pl-PL" sz="2000" dirty="0" err="1"/>
              <a:t>an</a:t>
            </a:r>
            <a:r>
              <a:rPr lang="pl-PL" sz="2000" dirty="0"/>
              <a:t> MLP, the model </a:t>
            </a:r>
            <a:r>
              <a:rPr lang="pl-PL" sz="2000" dirty="0" err="1"/>
              <a:t>first</a:t>
            </a:r>
            <a:r>
              <a:rPr lang="pl-PL" sz="2000" dirty="0"/>
              <a:t> </a:t>
            </a:r>
            <a:r>
              <a:rPr lang="pl-PL" sz="2000" dirty="0" err="1"/>
              <a:t>tokenizes</a:t>
            </a:r>
            <a:r>
              <a:rPr lang="pl-PL" sz="2000" dirty="0"/>
              <a:t> </a:t>
            </a:r>
            <a:r>
              <a:rPr lang="pl-PL" sz="2000" dirty="0" err="1"/>
              <a:t>each</a:t>
            </a:r>
            <a:r>
              <a:rPr lang="pl-PL" sz="2000" dirty="0"/>
              <a:t> </a:t>
            </a:r>
            <a:r>
              <a:rPr lang="pl-PL" sz="2000" dirty="0" err="1"/>
              <a:t>feature</a:t>
            </a:r>
            <a:r>
              <a:rPr lang="pl-PL" sz="2000" dirty="0"/>
              <a:t> </a:t>
            </a:r>
            <a:r>
              <a:rPr lang="pl-PL" sz="2000" dirty="0" err="1"/>
              <a:t>into</a:t>
            </a:r>
            <a:r>
              <a:rPr lang="pl-PL" sz="2000" dirty="0"/>
              <a:t> </a:t>
            </a:r>
            <a:r>
              <a:rPr lang="pl-PL" sz="2000" dirty="0" err="1"/>
              <a:t>an</a:t>
            </a:r>
            <a:r>
              <a:rPr lang="pl-PL" sz="2000" dirty="0"/>
              <a:t> </a:t>
            </a:r>
            <a:r>
              <a:rPr lang="pl-PL" sz="2000" dirty="0" err="1"/>
              <a:t>embedding</a:t>
            </a:r>
            <a:r>
              <a:rPr lang="pl-PL" sz="2000" dirty="0"/>
              <a:t>, </a:t>
            </a:r>
            <a:r>
              <a:rPr lang="pl-PL" sz="2000" dirty="0" err="1"/>
              <a:t>treating</a:t>
            </a:r>
            <a:r>
              <a:rPr lang="pl-PL" sz="2000" dirty="0"/>
              <a:t> </a:t>
            </a:r>
            <a:r>
              <a:rPr lang="pl-PL" sz="2000" dirty="0" err="1"/>
              <a:t>features</a:t>
            </a:r>
            <a:r>
              <a:rPr lang="pl-PL" sz="2000" dirty="0"/>
              <a:t> </a:t>
            </a:r>
            <a:r>
              <a:rPr lang="pl-PL" sz="2000" dirty="0" err="1"/>
              <a:t>analogously</a:t>
            </a:r>
            <a:r>
              <a:rPr lang="pl-PL" sz="2000" dirty="0"/>
              <a:t> to </a:t>
            </a:r>
            <a:r>
              <a:rPr lang="pl-PL" sz="2000" dirty="0" err="1"/>
              <a:t>tokens</a:t>
            </a:r>
            <a:r>
              <a:rPr lang="pl-PL" sz="2000" dirty="0"/>
              <a:t> in NLP </a:t>
            </a:r>
            <a:r>
              <a:rPr lang="pl-PL" sz="2000" dirty="0" err="1"/>
              <a:t>models</a:t>
            </a:r>
            <a:r>
              <a:rPr lang="pl-PL" sz="2000" dirty="0"/>
              <a:t>. </a:t>
            </a:r>
            <a:r>
              <a:rPr lang="pl-PL" sz="2000" dirty="0" err="1"/>
              <a:t>These</a:t>
            </a:r>
            <a:r>
              <a:rPr lang="pl-PL" sz="2000" dirty="0"/>
              <a:t> </a:t>
            </a:r>
            <a:r>
              <a:rPr lang="pl-PL" sz="2000" dirty="0" err="1"/>
              <a:t>feature</a:t>
            </a:r>
            <a:r>
              <a:rPr lang="pl-PL" sz="2000" dirty="0"/>
              <a:t> </a:t>
            </a:r>
            <a:r>
              <a:rPr lang="pl-PL" sz="2000" dirty="0" err="1"/>
              <a:t>tokens</a:t>
            </a:r>
            <a:r>
              <a:rPr lang="pl-PL" sz="2000" dirty="0"/>
              <a:t> </a:t>
            </a:r>
            <a:r>
              <a:rPr lang="pl-PL" sz="2000" dirty="0" err="1"/>
              <a:t>are</a:t>
            </a:r>
            <a:r>
              <a:rPr lang="pl-PL" sz="2000" dirty="0"/>
              <a:t> </a:t>
            </a:r>
            <a:r>
              <a:rPr lang="pl-PL" sz="2000" dirty="0" err="1"/>
              <a:t>then</a:t>
            </a:r>
            <a:r>
              <a:rPr lang="pl-PL" sz="2000" dirty="0"/>
              <a:t> </a:t>
            </a:r>
            <a:r>
              <a:rPr lang="pl-PL" sz="2000" dirty="0" err="1"/>
              <a:t>passed</a:t>
            </a:r>
            <a:r>
              <a:rPr lang="pl-PL" sz="2000" dirty="0"/>
              <a:t> </a:t>
            </a:r>
            <a:r>
              <a:rPr lang="pl-PL" sz="2000" dirty="0" err="1"/>
              <a:t>through</a:t>
            </a:r>
            <a:r>
              <a:rPr lang="pl-PL" sz="2000" dirty="0"/>
              <a:t> a Transformer </a:t>
            </a:r>
            <a:r>
              <a:rPr lang="pl-PL" sz="2000" dirty="0" err="1"/>
              <a:t>encoder</a:t>
            </a:r>
            <a:r>
              <a:rPr lang="pl-PL" sz="2000" dirty="0"/>
              <a:t>, </a:t>
            </a:r>
            <a:r>
              <a:rPr lang="pl-PL" sz="2000" dirty="0" err="1"/>
              <a:t>where</a:t>
            </a:r>
            <a:r>
              <a:rPr lang="pl-PL" sz="2000" dirty="0"/>
              <a:t> </a:t>
            </a:r>
            <a:r>
              <a:rPr lang="pl-PL" sz="2000" dirty="0" err="1"/>
              <a:t>self-attention</a:t>
            </a:r>
            <a:r>
              <a:rPr lang="pl-PL" sz="2000" dirty="0"/>
              <a:t> </a:t>
            </a:r>
            <a:r>
              <a:rPr lang="pl-PL" sz="2000" dirty="0" err="1"/>
              <a:t>learns</a:t>
            </a:r>
            <a:r>
              <a:rPr lang="pl-PL" sz="2000" dirty="0"/>
              <a:t> </a:t>
            </a:r>
            <a:r>
              <a:rPr lang="pl-PL" sz="2000" dirty="0" err="1"/>
              <a:t>interactions</a:t>
            </a:r>
            <a:r>
              <a:rPr lang="pl-PL" sz="2000" dirty="0"/>
              <a:t> </a:t>
            </a:r>
            <a:r>
              <a:rPr lang="pl-PL" sz="2000" dirty="0" err="1"/>
              <a:t>between</a:t>
            </a:r>
            <a:r>
              <a:rPr lang="pl-PL" sz="2000" dirty="0"/>
              <a:t> </a:t>
            </a:r>
            <a:r>
              <a:rPr lang="pl-PL" sz="2000" dirty="0" err="1"/>
              <a:t>features</a:t>
            </a:r>
            <a:r>
              <a:rPr lang="pl-PL" sz="2000" dirty="0"/>
              <a:t> in a data-</a:t>
            </a:r>
            <a:r>
              <a:rPr lang="pl-PL" sz="2000" dirty="0" err="1"/>
              <a:t>driven</a:t>
            </a:r>
            <a:r>
              <a:rPr lang="pl-PL" sz="2000" dirty="0"/>
              <a:t> </a:t>
            </a:r>
            <a:r>
              <a:rPr lang="pl-PL" sz="2000" dirty="0" err="1"/>
              <a:t>way</a:t>
            </a:r>
            <a:r>
              <a:rPr lang="pl-PL" sz="2000" dirty="0"/>
              <a:t>.</a:t>
            </a:r>
          </a:p>
          <a:p>
            <a:pPr marL="0" indent="0">
              <a:buNone/>
            </a:pPr>
            <a:r>
              <a:rPr lang="pl-PL" sz="2000" dirty="0" err="1"/>
              <a:t>This</a:t>
            </a:r>
            <a:r>
              <a:rPr lang="pl-PL" sz="2000" dirty="0"/>
              <a:t> </a:t>
            </a:r>
            <a:r>
              <a:rPr lang="pl-PL" sz="2000" dirty="0" err="1"/>
              <a:t>enables</a:t>
            </a:r>
            <a:r>
              <a:rPr lang="pl-PL" sz="2000" dirty="0"/>
              <a:t> the model to </a:t>
            </a:r>
            <a:r>
              <a:rPr lang="pl-PL" sz="2000" dirty="0" err="1"/>
              <a:t>capture</a:t>
            </a:r>
            <a:r>
              <a:rPr lang="pl-PL" sz="2000" dirty="0"/>
              <a:t> </a:t>
            </a:r>
            <a:r>
              <a:rPr lang="pl-PL" sz="2000" dirty="0" err="1"/>
              <a:t>complex</a:t>
            </a:r>
            <a:r>
              <a:rPr lang="pl-PL" sz="2000" dirty="0"/>
              <a:t>, high-order </a:t>
            </a:r>
            <a:r>
              <a:rPr lang="pl-PL" sz="2000" dirty="0" err="1"/>
              <a:t>feature</a:t>
            </a:r>
            <a:r>
              <a:rPr lang="pl-PL" sz="2000" dirty="0"/>
              <a:t> </a:t>
            </a:r>
            <a:r>
              <a:rPr lang="pl-PL" sz="2000" dirty="0" err="1"/>
              <a:t>dependencies</a:t>
            </a:r>
            <a:r>
              <a:rPr lang="pl-PL" sz="2000" dirty="0"/>
              <a:t> </a:t>
            </a:r>
            <a:r>
              <a:rPr lang="pl-PL" sz="2000" dirty="0" err="1"/>
              <a:t>without</a:t>
            </a:r>
            <a:r>
              <a:rPr lang="pl-PL" sz="2000" dirty="0"/>
              <a:t> </a:t>
            </a:r>
            <a:r>
              <a:rPr lang="pl-PL" sz="2000" dirty="0" err="1"/>
              <a:t>hand-crafted</a:t>
            </a:r>
            <a:r>
              <a:rPr lang="pl-PL" sz="2000" dirty="0"/>
              <a:t> </a:t>
            </a:r>
            <a:r>
              <a:rPr lang="pl-PL" sz="2000" dirty="0" err="1"/>
              <a:t>feature</a:t>
            </a:r>
            <a:r>
              <a:rPr lang="pl-PL" sz="2000" dirty="0"/>
              <a:t> engineering. </a:t>
            </a:r>
            <a:r>
              <a:rPr lang="pl-PL" sz="2000" dirty="0" err="1"/>
              <a:t>Unlike</a:t>
            </a:r>
            <a:r>
              <a:rPr lang="pl-PL" sz="2000" dirty="0"/>
              <a:t> standard </a:t>
            </a:r>
            <a:r>
              <a:rPr lang="pl-PL" sz="2000" dirty="0" err="1"/>
              <a:t>Transformers</a:t>
            </a:r>
            <a:r>
              <a:rPr lang="pl-PL" sz="2000" dirty="0"/>
              <a:t>, FT-Transformer </a:t>
            </a:r>
            <a:r>
              <a:rPr lang="pl-PL" sz="2000" dirty="0" err="1"/>
              <a:t>includes</a:t>
            </a:r>
            <a:r>
              <a:rPr lang="pl-PL" sz="2000" dirty="0"/>
              <a:t> a </a:t>
            </a:r>
            <a:r>
              <a:rPr lang="pl-PL" sz="2000" dirty="0" err="1"/>
              <a:t>lightweight</a:t>
            </a:r>
            <a:r>
              <a:rPr lang="pl-PL" sz="2000" dirty="0"/>
              <a:t> </a:t>
            </a:r>
            <a:r>
              <a:rPr lang="pl-PL" sz="2000" dirty="0" err="1"/>
              <a:t>FeatureTokenizer</a:t>
            </a:r>
            <a:r>
              <a:rPr lang="pl-PL" sz="2000" dirty="0"/>
              <a:t> </a:t>
            </a:r>
            <a:r>
              <a:rPr lang="pl-PL" sz="2000" dirty="0" err="1"/>
              <a:t>layer</a:t>
            </a:r>
            <a:r>
              <a:rPr lang="pl-PL" sz="2000" dirty="0"/>
              <a:t>, </a:t>
            </a:r>
            <a:r>
              <a:rPr lang="pl-PL" sz="2000" dirty="0" err="1"/>
              <a:t>does</a:t>
            </a:r>
            <a:r>
              <a:rPr lang="pl-PL" sz="2000" dirty="0"/>
              <a:t> not </a:t>
            </a:r>
            <a:r>
              <a:rPr lang="pl-PL" sz="2000" dirty="0" err="1"/>
              <a:t>rely</a:t>
            </a:r>
            <a:r>
              <a:rPr lang="pl-PL" sz="2000" dirty="0"/>
              <a:t> on </a:t>
            </a:r>
            <a:r>
              <a:rPr lang="pl-PL" sz="2000" dirty="0" err="1"/>
              <a:t>positional</a:t>
            </a:r>
            <a:r>
              <a:rPr lang="pl-PL" sz="2000" dirty="0"/>
              <a:t> </a:t>
            </a:r>
            <a:r>
              <a:rPr lang="pl-PL" sz="2000" dirty="0" err="1"/>
              <a:t>encoding</a:t>
            </a:r>
            <a:r>
              <a:rPr lang="pl-PL" sz="2000" dirty="0"/>
              <a:t>, and </a:t>
            </a:r>
            <a:r>
              <a:rPr lang="pl-PL" sz="2000" dirty="0" err="1"/>
              <a:t>uses</a:t>
            </a:r>
            <a:r>
              <a:rPr lang="pl-PL" sz="2000" dirty="0"/>
              <a:t> </a:t>
            </a:r>
            <a:r>
              <a:rPr lang="pl-PL" sz="2000" dirty="0" err="1"/>
              <a:t>pre-normalization</a:t>
            </a:r>
            <a:r>
              <a:rPr lang="pl-PL" sz="2000" dirty="0"/>
              <a:t> and </a:t>
            </a:r>
            <a:r>
              <a:rPr lang="pl-PL" sz="2000" dirty="0" err="1"/>
              <a:t>dropout</a:t>
            </a:r>
            <a:r>
              <a:rPr lang="pl-PL" sz="2000" dirty="0"/>
              <a:t> to </a:t>
            </a:r>
            <a:r>
              <a:rPr lang="pl-PL" sz="2000" dirty="0" err="1"/>
              <a:t>stabilize</a:t>
            </a:r>
            <a:r>
              <a:rPr lang="pl-PL" sz="2000" dirty="0"/>
              <a:t> </a:t>
            </a:r>
            <a:r>
              <a:rPr lang="pl-PL" sz="2000" dirty="0" err="1"/>
              <a:t>training</a:t>
            </a:r>
            <a:r>
              <a:rPr lang="pl-PL" sz="2000" dirty="0"/>
              <a:t> on small and medium </a:t>
            </a:r>
            <a:r>
              <a:rPr lang="pl-PL" sz="2000" dirty="0" err="1"/>
              <a:t>tabular</a:t>
            </a:r>
            <a:r>
              <a:rPr lang="pl-PL" sz="2000" dirty="0"/>
              <a:t> </a:t>
            </a:r>
            <a:r>
              <a:rPr lang="pl-PL" sz="2000" dirty="0" err="1"/>
              <a:t>datasets</a:t>
            </a:r>
            <a:r>
              <a:rPr lang="pl-PL" sz="2000" dirty="0"/>
              <a:t>.</a:t>
            </a:r>
          </a:p>
          <a:p>
            <a:pPr marL="0" indent="0">
              <a:buNone/>
            </a:pPr>
            <a:endParaRPr lang="pl-PL" sz="2000" dirty="0"/>
          </a:p>
          <a:p>
            <a:pPr marL="0" indent="0">
              <a:buNone/>
            </a:pPr>
            <a:endParaRPr lang="pl-PL" sz="2000" dirty="0"/>
          </a:p>
          <a:p>
            <a:pPr marL="0" indent="0">
              <a:buNone/>
            </a:pPr>
            <a:endParaRPr lang="pl-PL" sz="2000" dirty="0"/>
          </a:p>
          <a:p>
            <a:pPr marL="0" indent="0">
              <a:buNone/>
            </a:pPr>
            <a:endParaRPr lang="pl-PL" sz="2000" dirty="0"/>
          </a:p>
          <a:p>
            <a:pPr marL="0" indent="0">
              <a:buNone/>
            </a:pPr>
            <a:endParaRPr lang="pl-PL" sz="2000" b="1" dirty="0"/>
          </a:p>
          <a:p>
            <a:pPr marL="0" indent="0">
              <a:buNone/>
            </a:pPr>
            <a:r>
              <a:rPr lang="pl-PL" sz="2000" b="1" dirty="0"/>
              <a:t>FILE: 3-5.ipynb</a:t>
            </a: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18C9091E-2E03-2547-9C34-749705741F0D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FT-Transformer (Feature Tokenizer Transformer) </a:t>
            </a: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7CCE3C8D-8824-66C3-A9B7-33BFA3CD8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923" y="4555104"/>
            <a:ext cx="7772400" cy="95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695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A860E-7526-CFF7-EC43-E75559C05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49DDA94-5E6C-BEB5-1FB8-914CEECC1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B88066-6E78-10E1-69A2-1A2C75B12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5540EB-FEF0-BE1F-0198-C0C50FAB0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A5362C-E523-4C3D-D711-4D9876558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46C2B8-2D69-7CC4-16B1-222C0457D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31EE045-6F1E-DAA0-4A32-778A9DBFA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928B1E-C147-E2AB-75DD-157CB00C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614E55D-1E0F-08FB-B883-01DAD68D3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694" y="480726"/>
            <a:ext cx="7555131" cy="5813196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buNone/>
            </a:pPr>
            <a:r>
              <a:rPr lang="pl-PL" sz="2000" dirty="0" err="1"/>
              <a:t>Description</a:t>
            </a:r>
            <a:r>
              <a:rPr lang="pl-PL" sz="2000" dirty="0"/>
              <a:t>:</a:t>
            </a:r>
          </a:p>
          <a:p>
            <a:pPr marL="0" indent="0">
              <a:buNone/>
            </a:pPr>
            <a:r>
              <a:rPr lang="pl-PL" sz="2000" dirty="0"/>
              <a:t>Architecture: FT-Transformer with </a:t>
            </a:r>
            <a:r>
              <a:rPr lang="pl-PL" sz="2000" dirty="0" err="1"/>
              <a:t>FeatureTokenizer</a:t>
            </a:r>
            <a:r>
              <a:rPr lang="pl-PL" sz="2000" dirty="0"/>
              <a:t> and Transformer </a:t>
            </a:r>
            <a:r>
              <a:rPr lang="pl-PL" sz="2000" dirty="0" err="1"/>
              <a:t>backbone</a:t>
            </a:r>
            <a:endParaRPr lang="pl-PL" sz="2000" dirty="0"/>
          </a:p>
          <a:p>
            <a:pPr marL="0" indent="0">
              <a:buNone/>
            </a:pPr>
            <a:r>
              <a:rPr lang="pl-PL" sz="2000" dirty="0"/>
              <a:t>Token </a:t>
            </a:r>
            <a:r>
              <a:rPr lang="pl-PL" sz="2000" dirty="0" err="1"/>
              <a:t>dimension</a:t>
            </a:r>
            <a:r>
              <a:rPr lang="pl-PL" sz="2000" dirty="0"/>
              <a:t>: </a:t>
            </a:r>
            <a:r>
              <a:rPr lang="pl-PL" sz="2000" dirty="0" err="1"/>
              <a:t>d_token</a:t>
            </a:r>
            <a:r>
              <a:rPr lang="pl-PL" sz="2000" dirty="0"/>
              <a:t>=96</a:t>
            </a:r>
          </a:p>
          <a:p>
            <a:pPr marL="0" indent="0">
              <a:buNone/>
            </a:pPr>
            <a:r>
              <a:rPr lang="pl-PL" sz="2000" dirty="0"/>
              <a:t>Transformer </a:t>
            </a:r>
            <a:r>
              <a:rPr lang="pl-PL" sz="2000" dirty="0" err="1"/>
              <a:t>blocks</a:t>
            </a:r>
            <a:r>
              <a:rPr lang="pl-PL" sz="2000" dirty="0"/>
              <a:t>: 2 </a:t>
            </a:r>
            <a:r>
              <a:rPr lang="pl-PL" sz="2000" dirty="0" err="1"/>
              <a:t>blocks</a:t>
            </a:r>
            <a:r>
              <a:rPr lang="pl-PL" sz="2000" dirty="0"/>
              <a:t> (</a:t>
            </a:r>
            <a:r>
              <a:rPr lang="pl-PL" sz="2000" dirty="0" err="1"/>
              <a:t>n_blocks</a:t>
            </a:r>
            <a:r>
              <a:rPr lang="pl-PL" sz="2000" dirty="0"/>
              <a:t>=2)</a:t>
            </a:r>
          </a:p>
          <a:p>
            <a:pPr marL="0" indent="0">
              <a:buNone/>
            </a:pPr>
            <a:r>
              <a:rPr lang="pl-PL" sz="2000" dirty="0" err="1"/>
              <a:t>Attention</a:t>
            </a:r>
            <a:r>
              <a:rPr lang="pl-PL" sz="2000" dirty="0"/>
              <a:t> </a:t>
            </a:r>
            <a:r>
              <a:rPr lang="pl-PL" sz="2000" dirty="0" err="1"/>
              <a:t>mechanism</a:t>
            </a:r>
            <a:r>
              <a:rPr lang="pl-PL" sz="2000" dirty="0"/>
              <a:t>: 2 </a:t>
            </a:r>
            <a:r>
              <a:rPr lang="pl-PL" sz="2000" dirty="0" err="1"/>
              <a:t>heads</a:t>
            </a:r>
            <a:r>
              <a:rPr lang="pl-PL" sz="2000" dirty="0"/>
              <a:t> (</a:t>
            </a:r>
            <a:r>
              <a:rPr lang="pl-PL" sz="2000" dirty="0" err="1"/>
              <a:t>attention_n_heads</a:t>
            </a:r>
            <a:r>
              <a:rPr lang="pl-PL" sz="2000" dirty="0"/>
              <a:t>=2), </a:t>
            </a:r>
            <a:r>
              <a:rPr lang="pl-PL" sz="2000" dirty="0" err="1"/>
              <a:t>Kaiming</a:t>
            </a:r>
            <a:r>
              <a:rPr lang="pl-PL" sz="2000" dirty="0"/>
              <a:t> </a:t>
            </a:r>
            <a:r>
              <a:rPr lang="pl-PL" sz="2000" dirty="0" err="1"/>
              <a:t>initialization</a:t>
            </a:r>
            <a:endParaRPr lang="pl-PL" sz="2000" dirty="0"/>
          </a:p>
          <a:p>
            <a:pPr marL="0" indent="0">
              <a:buNone/>
            </a:pPr>
            <a:r>
              <a:rPr lang="pl-PL" sz="2000" dirty="0" err="1"/>
              <a:t>Normalization</a:t>
            </a:r>
            <a:r>
              <a:rPr lang="pl-PL" sz="2000" dirty="0"/>
              <a:t>: </a:t>
            </a:r>
            <a:r>
              <a:rPr lang="pl-PL" sz="2000" dirty="0" err="1"/>
              <a:t>LayerNorm</a:t>
            </a:r>
            <a:r>
              <a:rPr lang="pl-PL" sz="2000" dirty="0"/>
              <a:t> for </a:t>
            </a:r>
            <a:r>
              <a:rPr lang="pl-PL" sz="2000" dirty="0" err="1"/>
              <a:t>attention</a:t>
            </a:r>
            <a:r>
              <a:rPr lang="pl-PL" sz="2000" dirty="0"/>
              <a:t>, FFN, and </a:t>
            </a:r>
            <a:r>
              <a:rPr lang="pl-PL" sz="2000" dirty="0" err="1"/>
              <a:t>head</a:t>
            </a:r>
            <a:endParaRPr lang="pl-PL" sz="2000" dirty="0"/>
          </a:p>
          <a:p>
            <a:pPr marL="0" indent="0">
              <a:buNone/>
            </a:pPr>
            <a:r>
              <a:rPr lang="pl-PL" sz="2000" dirty="0" err="1"/>
              <a:t>Regularization</a:t>
            </a:r>
            <a:r>
              <a:rPr lang="pl-PL" sz="2000" dirty="0"/>
              <a:t>:</a:t>
            </a:r>
          </a:p>
          <a:p>
            <a:pPr marL="0" indent="0">
              <a:buNone/>
            </a:pPr>
            <a:r>
              <a:rPr lang="pl-PL" sz="2000" dirty="0" err="1"/>
              <a:t>Attention</a:t>
            </a:r>
            <a:r>
              <a:rPr lang="pl-PL" sz="2000" dirty="0"/>
              <a:t> </a:t>
            </a:r>
            <a:r>
              <a:rPr lang="pl-PL" sz="2000" dirty="0" err="1"/>
              <a:t>dropout</a:t>
            </a:r>
            <a:r>
              <a:rPr lang="pl-PL" sz="2000" dirty="0"/>
              <a:t>: 0.1</a:t>
            </a:r>
          </a:p>
          <a:p>
            <a:pPr marL="0" indent="0">
              <a:buNone/>
            </a:pPr>
            <a:r>
              <a:rPr lang="pl-PL" sz="2000" dirty="0"/>
              <a:t>FFN </a:t>
            </a:r>
            <a:r>
              <a:rPr lang="pl-PL" sz="2000" dirty="0" err="1"/>
              <a:t>dropout</a:t>
            </a:r>
            <a:r>
              <a:rPr lang="pl-PL" sz="2000" dirty="0"/>
              <a:t>: 0.1</a:t>
            </a:r>
          </a:p>
          <a:p>
            <a:pPr marL="0" indent="0">
              <a:buNone/>
            </a:pPr>
            <a:r>
              <a:rPr lang="pl-PL" sz="2000" dirty="0" err="1"/>
              <a:t>Residual</a:t>
            </a:r>
            <a:r>
              <a:rPr lang="pl-PL" sz="2000" dirty="0"/>
              <a:t> </a:t>
            </a:r>
            <a:r>
              <a:rPr lang="pl-PL" sz="2000" dirty="0" err="1"/>
              <a:t>dropout</a:t>
            </a:r>
            <a:r>
              <a:rPr lang="pl-PL" sz="2000" dirty="0"/>
              <a:t>: 0.0</a:t>
            </a:r>
          </a:p>
          <a:p>
            <a:pPr marL="0" indent="0">
              <a:buNone/>
            </a:pPr>
            <a:r>
              <a:rPr lang="pl-PL" sz="2000" dirty="0"/>
              <a:t>FFN </a:t>
            </a:r>
            <a:r>
              <a:rPr lang="pl-PL" sz="2000" dirty="0" err="1"/>
              <a:t>configuration</a:t>
            </a:r>
            <a:r>
              <a:rPr lang="pl-PL" sz="2000" dirty="0"/>
              <a:t>: </a:t>
            </a:r>
            <a:r>
              <a:rPr lang="pl-PL" sz="2000" dirty="0" err="1"/>
              <a:t>Hidden</a:t>
            </a:r>
            <a:r>
              <a:rPr lang="pl-PL" sz="2000" dirty="0"/>
              <a:t> </a:t>
            </a:r>
            <a:r>
              <a:rPr lang="pl-PL" sz="2000" dirty="0" err="1"/>
              <a:t>dimension</a:t>
            </a:r>
            <a:r>
              <a:rPr lang="pl-PL" sz="2000" dirty="0"/>
              <a:t> 192 (</a:t>
            </a:r>
            <a:r>
              <a:rPr lang="pl-PL" sz="2000" dirty="0" err="1"/>
              <a:t>ffn_d_hidden</a:t>
            </a:r>
            <a:r>
              <a:rPr lang="pl-PL" sz="2000" dirty="0"/>
              <a:t>=192), </a:t>
            </a:r>
            <a:r>
              <a:rPr lang="pl-PL" sz="2000" dirty="0" err="1"/>
              <a:t>ReLU</a:t>
            </a:r>
            <a:r>
              <a:rPr lang="pl-PL" sz="2000" dirty="0"/>
              <a:t> </a:t>
            </a:r>
            <a:r>
              <a:rPr lang="pl-PL" sz="2000" dirty="0" err="1"/>
              <a:t>activation</a:t>
            </a:r>
            <a:endParaRPr lang="pl-PL" sz="2000" dirty="0"/>
          </a:p>
          <a:p>
            <a:pPr marL="0" indent="0">
              <a:buNone/>
            </a:pPr>
            <a:r>
              <a:rPr lang="pl-PL" sz="2000" dirty="0"/>
              <a:t>KV </a:t>
            </a:r>
            <a:r>
              <a:rPr lang="pl-PL" sz="2000" dirty="0" err="1"/>
              <a:t>compression</a:t>
            </a:r>
            <a:r>
              <a:rPr lang="pl-PL" sz="2000" dirty="0"/>
              <a:t>: Ratio 0.5, </a:t>
            </a:r>
            <a:r>
              <a:rPr lang="pl-PL" sz="2000" dirty="0" err="1"/>
              <a:t>key-value</a:t>
            </a:r>
            <a:r>
              <a:rPr lang="pl-PL" sz="2000" dirty="0"/>
              <a:t> </a:t>
            </a:r>
            <a:r>
              <a:rPr lang="pl-PL" sz="2000" dirty="0" err="1"/>
              <a:t>sharing</a:t>
            </a:r>
            <a:endParaRPr lang="pl-PL" sz="2000" dirty="0"/>
          </a:p>
          <a:p>
            <a:pPr marL="0" indent="0">
              <a:buNone/>
            </a:pPr>
            <a:r>
              <a:rPr lang="pl-PL" sz="2000" dirty="0" err="1"/>
              <a:t>Normalization</a:t>
            </a:r>
            <a:r>
              <a:rPr lang="pl-PL" sz="2000" dirty="0"/>
              <a:t> </a:t>
            </a:r>
            <a:r>
              <a:rPr lang="pl-PL" sz="2000" dirty="0" err="1"/>
              <a:t>strategy</a:t>
            </a:r>
            <a:r>
              <a:rPr lang="pl-PL" sz="2000" dirty="0"/>
              <a:t>: </a:t>
            </a:r>
            <a:r>
              <a:rPr lang="pl-PL" sz="2000" dirty="0" err="1"/>
              <a:t>Prenormalization</a:t>
            </a:r>
            <a:r>
              <a:rPr lang="pl-PL" sz="2000" dirty="0"/>
              <a:t> </a:t>
            </a:r>
            <a:r>
              <a:rPr lang="pl-PL" sz="2000" dirty="0" err="1"/>
              <a:t>enabled</a:t>
            </a:r>
            <a:r>
              <a:rPr lang="pl-PL" sz="2000" dirty="0"/>
              <a:t>, </a:t>
            </a:r>
            <a:r>
              <a:rPr lang="pl-PL" sz="2000" dirty="0" err="1"/>
              <a:t>first</a:t>
            </a:r>
            <a:r>
              <a:rPr lang="pl-PL" sz="2000" dirty="0"/>
              <a:t> </a:t>
            </a:r>
            <a:r>
              <a:rPr lang="pl-PL" sz="2000" dirty="0" err="1"/>
              <a:t>prenormalization</a:t>
            </a:r>
            <a:r>
              <a:rPr lang="pl-PL" sz="2000" dirty="0"/>
              <a:t> </a:t>
            </a:r>
            <a:r>
              <a:rPr lang="pl-PL" sz="2000" dirty="0" err="1"/>
              <a:t>disabled</a:t>
            </a:r>
            <a:endParaRPr lang="pl-PL" sz="2000" dirty="0"/>
          </a:p>
          <a:p>
            <a:pPr marL="0" indent="0">
              <a:buNone/>
            </a:pPr>
            <a:r>
              <a:rPr lang="pl-PL" sz="2000" dirty="0" err="1"/>
              <a:t>Optimizer</a:t>
            </a:r>
            <a:r>
              <a:rPr lang="pl-PL" sz="2000" dirty="0"/>
              <a:t>: Adam with </a:t>
            </a:r>
            <a:r>
              <a:rPr lang="pl-PL" sz="2000" dirty="0" err="1"/>
              <a:t>lr</a:t>
            </a:r>
            <a:r>
              <a:rPr lang="pl-PL" sz="2000" dirty="0"/>
              <a:t>=0.001 (no </a:t>
            </a:r>
            <a:r>
              <a:rPr lang="pl-PL" sz="2000" dirty="0" err="1"/>
              <a:t>weight</a:t>
            </a:r>
            <a:r>
              <a:rPr lang="pl-PL" sz="2000" dirty="0"/>
              <a:t> </a:t>
            </a:r>
            <a:r>
              <a:rPr lang="pl-PL" sz="2000" dirty="0" err="1"/>
              <a:t>decay</a:t>
            </a:r>
            <a:r>
              <a:rPr lang="pl-PL" sz="2000" dirty="0"/>
              <a:t>)</a:t>
            </a:r>
          </a:p>
          <a:p>
            <a:pPr marL="0" indent="0">
              <a:buNone/>
            </a:pPr>
            <a:r>
              <a:rPr lang="pl-PL" sz="2000" dirty="0"/>
              <a:t>Training </a:t>
            </a:r>
            <a:r>
              <a:rPr lang="pl-PL" sz="2000" dirty="0" err="1"/>
              <a:t>configuration</a:t>
            </a:r>
            <a:r>
              <a:rPr lang="pl-PL" sz="2000" dirty="0"/>
              <a:t>:</a:t>
            </a:r>
          </a:p>
          <a:p>
            <a:pPr marL="0" indent="0">
              <a:buNone/>
            </a:pPr>
            <a:r>
              <a:rPr lang="pl-PL" sz="2000" dirty="0" err="1"/>
              <a:t>Batch</a:t>
            </a:r>
            <a:r>
              <a:rPr lang="pl-PL" sz="2000" dirty="0"/>
              <a:t> </a:t>
            </a:r>
            <a:r>
              <a:rPr lang="pl-PL" sz="2000" dirty="0" err="1"/>
              <a:t>size</a:t>
            </a:r>
            <a:r>
              <a:rPr lang="pl-PL" sz="2000" dirty="0"/>
              <a:t>: 1024</a:t>
            </a:r>
          </a:p>
          <a:p>
            <a:pPr marL="0" indent="0">
              <a:buNone/>
            </a:pPr>
            <a:r>
              <a:rPr lang="pl-PL" sz="2000" dirty="0"/>
              <a:t>Max </a:t>
            </a:r>
            <a:r>
              <a:rPr lang="pl-PL" sz="2000" dirty="0" err="1"/>
              <a:t>epochs</a:t>
            </a:r>
            <a:r>
              <a:rPr lang="pl-PL" sz="2000" dirty="0"/>
              <a:t>: 25</a:t>
            </a:r>
          </a:p>
          <a:p>
            <a:pPr marL="0" indent="0">
              <a:buNone/>
            </a:pPr>
            <a:r>
              <a:rPr lang="pl-PL" sz="2000" dirty="0" err="1"/>
              <a:t>Early</a:t>
            </a:r>
            <a:r>
              <a:rPr lang="pl-PL" sz="2000" dirty="0"/>
              <a:t> </a:t>
            </a:r>
            <a:r>
              <a:rPr lang="pl-PL" sz="2000" dirty="0" err="1"/>
              <a:t>stopping</a:t>
            </a:r>
            <a:r>
              <a:rPr lang="pl-PL" sz="2000" dirty="0"/>
              <a:t>: </a:t>
            </a:r>
            <a:r>
              <a:rPr lang="pl-PL" sz="2000" dirty="0" err="1"/>
              <a:t>Patience</a:t>
            </a:r>
            <a:r>
              <a:rPr lang="pl-PL" sz="2000" dirty="0"/>
              <a:t>=5 (</a:t>
            </a:r>
            <a:r>
              <a:rPr lang="pl-PL" sz="2000" dirty="0" err="1"/>
              <a:t>monitors</a:t>
            </a:r>
            <a:r>
              <a:rPr lang="pl-PL" sz="2000" dirty="0"/>
              <a:t> </a:t>
            </a:r>
            <a:r>
              <a:rPr lang="pl-PL" sz="2000" dirty="0" err="1"/>
              <a:t>validation</a:t>
            </a:r>
            <a:r>
              <a:rPr lang="pl-PL" sz="2000" dirty="0"/>
              <a:t> RMSE)</a:t>
            </a:r>
          </a:p>
          <a:p>
            <a:pPr marL="0" indent="0">
              <a:buNone/>
            </a:pPr>
            <a:r>
              <a:rPr lang="pl-PL" sz="2000" dirty="0" err="1"/>
              <a:t>Loss</a:t>
            </a:r>
            <a:r>
              <a:rPr lang="pl-PL" sz="2000" dirty="0"/>
              <a:t> </a:t>
            </a:r>
            <a:r>
              <a:rPr lang="pl-PL" sz="2000" dirty="0" err="1"/>
              <a:t>function</a:t>
            </a:r>
            <a:r>
              <a:rPr lang="pl-PL" sz="2000" dirty="0"/>
              <a:t>: MSE</a:t>
            </a:r>
          </a:p>
          <a:p>
            <a:pPr marL="0" indent="0">
              <a:buNone/>
            </a:pPr>
            <a:r>
              <a:rPr lang="pl-PL" sz="2000" dirty="0"/>
              <a:t>Cross-</a:t>
            </a:r>
            <a:r>
              <a:rPr lang="pl-PL" sz="2000" dirty="0" err="1"/>
              <a:t>validation</a:t>
            </a:r>
            <a:r>
              <a:rPr lang="pl-PL" sz="2000" dirty="0"/>
              <a:t>: 5-fold CV with </a:t>
            </a:r>
            <a:r>
              <a:rPr lang="pl-PL" sz="2000" dirty="0" err="1"/>
              <a:t>shuffling</a:t>
            </a:r>
            <a:endParaRPr lang="pl-PL" sz="2000" dirty="0"/>
          </a:p>
          <a:p>
            <a:pPr marL="0" indent="0">
              <a:buNone/>
            </a:pPr>
            <a:r>
              <a:rPr lang="pl-PL" sz="2000" dirty="0"/>
              <a:t>Input </a:t>
            </a:r>
            <a:r>
              <a:rPr lang="pl-PL" sz="2000" dirty="0" err="1"/>
              <a:t>features</a:t>
            </a:r>
            <a:r>
              <a:rPr lang="pl-PL" sz="2000" dirty="0"/>
              <a:t>: </a:t>
            </a:r>
            <a:r>
              <a:rPr lang="pl-PL" sz="2000" dirty="0" err="1"/>
              <a:t>Numerical</a:t>
            </a:r>
            <a:r>
              <a:rPr lang="pl-PL" sz="2000" dirty="0"/>
              <a:t> </a:t>
            </a:r>
            <a:r>
              <a:rPr lang="pl-PL" sz="2000" dirty="0" err="1"/>
              <a:t>features</a:t>
            </a:r>
            <a:r>
              <a:rPr lang="pl-PL" sz="2000" dirty="0"/>
              <a:t> </a:t>
            </a:r>
            <a:r>
              <a:rPr lang="pl-PL" sz="2000" dirty="0" err="1"/>
              <a:t>only</a:t>
            </a:r>
            <a:r>
              <a:rPr lang="pl-PL" sz="2000" dirty="0"/>
              <a:t> (no </a:t>
            </a:r>
            <a:r>
              <a:rPr lang="pl-PL" sz="2000" dirty="0" err="1"/>
              <a:t>categorical</a:t>
            </a:r>
            <a:r>
              <a:rPr lang="pl-PL" sz="2000" dirty="0"/>
              <a:t> </a:t>
            </a:r>
            <a:r>
              <a:rPr lang="pl-PL" sz="2000" dirty="0" err="1"/>
              <a:t>features</a:t>
            </a:r>
            <a:r>
              <a:rPr lang="pl-PL" sz="2000" dirty="0"/>
              <a:t>, </a:t>
            </a:r>
            <a:r>
              <a:rPr lang="pl-PL" sz="2000" dirty="0" err="1"/>
              <a:t>cat_cardinalities</a:t>
            </a:r>
            <a:r>
              <a:rPr lang="pl-PL" sz="2000" dirty="0"/>
              <a:t>=[])</a:t>
            </a: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993BDD87-A3DE-19C6-2E10-EE994F574033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FT-Transformer (Feature Tokenizer Transformer) </a:t>
            </a:r>
          </a:p>
        </p:txBody>
      </p:sp>
    </p:spTree>
    <p:extLst>
      <p:ext uri="{BB962C8B-B14F-4D97-AF65-F5344CB8AC3E}">
        <p14:creationId xmlns:p14="http://schemas.microsoft.com/office/powerpoint/2010/main" val="160680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CFC64F-4E23-644E-61AB-F2F54233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9EE65C1-C365-F928-94E4-D5741BBB3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E7940B-6DB0-6E41-EC77-47762114E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A90DB3-CA73-8F2C-2B52-13C3BBABA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773255-CBEA-F03F-48D8-C9F939D6E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2EFC29-8417-81DC-F770-56D0BFA22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C3ABCED-740F-5609-3B79-B6ADAD3E9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A63EEA-BDC3-B66E-0418-DC4042670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0D362F7C-67ED-BA96-ABD0-48430BD71087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Early Fusion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B56F34E-347E-50D0-CB43-991A40193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646" y="3681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l-PL"/>
          </a:p>
        </p:txBody>
      </p:sp>
      <p:pic>
        <p:nvPicPr>
          <p:cNvPr id="1025" name="Obraz 2" descr="Obraz zawierający tekst, zrzut ekranu, linia, diagram&#10;&#10;Zawartość wygenerowana przez AI może być niepoprawna.">
            <a:extLst>
              <a:ext uri="{FF2B5EF4-FFF2-40B4-BE49-F238E27FC236}">
                <a16:creationId xmlns:a16="http://schemas.microsoft.com/office/drawing/2014/main" id="{01E140D3-ABB3-780A-97DF-67495C229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826" y="184324"/>
            <a:ext cx="7998442" cy="2149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FACAC5B7-85EF-250F-B460-FCAEA292679C}"/>
              </a:ext>
            </a:extLst>
          </p:cNvPr>
          <p:cNvSpPr txBox="1"/>
          <p:nvPr/>
        </p:nvSpPr>
        <p:spPr>
          <a:xfrm>
            <a:off x="4154947" y="2826418"/>
            <a:ext cx="799844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Architecture: </a:t>
            </a:r>
            <a:r>
              <a:rPr lang="pl-PL" dirty="0" err="1"/>
              <a:t>Early</a:t>
            </a:r>
            <a:r>
              <a:rPr lang="pl-PL" dirty="0"/>
              <a:t> Fusion </a:t>
            </a:r>
            <a:r>
              <a:rPr lang="pl-PL" dirty="0" err="1"/>
              <a:t>Regressor</a:t>
            </a:r>
            <a:r>
              <a:rPr lang="pl-PL" dirty="0"/>
              <a:t> with dual-</a:t>
            </a:r>
            <a:r>
              <a:rPr lang="pl-PL" dirty="0" err="1"/>
              <a:t>branch</a:t>
            </a:r>
            <a:r>
              <a:rPr lang="pl-PL" dirty="0"/>
              <a:t> </a:t>
            </a:r>
            <a:r>
              <a:rPr lang="pl-PL" dirty="0" err="1"/>
              <a:t>structure</a:t>
            </a:r>
            <a:endParaRPr lang="pl-PL" dirty="0"/>
          </a:p>
          <a:p>
            <a:r>
              <a:rPr lang="pl-PL" dirty="0" err="1"/>
              <a:t>Optimizer</a:t>
            </a:r>
            <a:r>
              <a:rPr lang="pl-PL" dirty="0"/>
              <a:t>: Adam with </a:t>
            </a:r>
            <a:r>
              <a:rPr lang="pl-PL" dirty="0" err="1"/>
              <a:t>lr</a:t>
            </a:r>
            <a:r>
              <a:rPr lang="pl-PL" dirty="0"/>
              <a:t>=0.001</a:t>
            </a:r>
          </a:p>
          <a:p>
            <a:r>
              <a:rPr lang="pl-PL" dirty="0"/>
              <a:t>Training </a:t>
            </a:r>
            <a:r>
              <a:rPr lang="pl-PL" dirty="0" err="1"/>
              <a:t>configuration</a:t>
            </a:r>
            <a:r>
              <a:rPr lang="pl-PL" dirty="0"/>
              <a:t>:</a:t>
            </a:r>
          </a:p>
          <a:p>
            <a:r>
              <a:rPr lang="pl-PL" dirty="0" err="1"/>
              <a:t>Batch</a:t>
            </a:r>
            <a:r>
              <a:rPr lang="pl-PL" dirty="0"/>
              <a:t> </a:t>
            </a:r>
            <a:r>
              <a:rPr lang="pl-PL" dirty="0" err="1"/>
              <a:t>size</a:t>
            </a:r>
            <a:r>
              <a:rPr lang="pl-PL" dirty="0"/>
              <a:t>: 1024</a:t>
            </a:r>
          </a:p>
          <a:p>
            <a:r>
              <a:rPr lang="pl-PL" dirty="0"/>
              <a:t>Max </a:t>
            </a:r>
            <a:r>
              <a:rPr lang="pl-PL" dirty="0" err="1"/>
              <a:t>epochs</a:t>
            </a:r>
            <a:r>
              <a:rPr lang="pl-PL" dirty="0"/>
              <a:t>: 50</a:t>
            </a:r>
          </a:p>
          <a:p>
            <a:r>
              <a:rPr lang="pl-PL" dirty="0" err="1"/>
              <a:t>Early</a:t>
            </a:r>
            <a:r>
              <a:rPr lang="pl-PL" dirty="0"/>
              <a:t> </a:t>
            </a:r>
            <a:r>
              <a:rPr lang="pl-PL" dirty="0" err="1"/>
              <a:t>stopping</a:t>
            </a:r>
            <a:r>
              <a:rPr lang="pl-PL" dirty="0"/>
              <a:t>: </a:t>
            </a:r>
            <a:r>
              <a:rPr lang="pl-PL" dirty="0" err="1"/>
              <a:t>Patience</a:t>
            </a:r>
            <a:r>
              <a:rPr lang="pl-PL" dirty="0"/>
              <a:t>=5 (</a:t>
            </a:r>
            <a:r>
              <a:rPr lang="pl-PL" dirty="0" err="1"/>
              <a:t>monitors</a:t>
            </a:r>
            <a:r>
              <a:rPr lang="pl-PL" dirty="0"/>
              <a:t> </a:t>
            </a:r>
            <a:r>
              <a:rPr lang="pl-PL" dirty="0" err="1"/>
              <a:t>validation</a:t>
            </a:r>
            <a:r>
              <a:rPr lang="pl-PL" dirty="0"/>
              <a:t> RMSE)</a:t>
            </a:r>
          </a:p>
          <a:p>
            <a:r>
              <a:rPr lang="pl-PL" dirty="0" err="1"/>
              <a:t>Loss</a:t>
            </a:r>
            <a:r>
              <a:rPr lang="pl-PL" dirty="0"/>
              <a:t> </a:t>
            </a:r>
            <a:r>
              <a:rPr lang="pl-PL" dirty="0" err="1"/>
              <a:t>function</a:t>
            </a:r>
            <a:r>
              <a:rPr lang="pl-PL" dirty="0"/>
              <a:t>: MSE</a:t>
            </a:r>
          </a:p>
          <a:p>
            <a:r>
              <a:rPr lang="pl-PL" dirty="0"/>
              <a:t>Cross-</a:t>
            </a:r>
            <a:r>
              <a:rPr lang="pl-PL" dirty="0" err="1"/>
              <a:t>validation</a:t>
            </a:r>
            <a:r>
              <a:rPr lang="pl-PL" dirty="0"/>
              <a:t>: 5-fold CV with </a:t>
            </a:r>
            <a:r>
              <a:rPr lang="pl-PL" dirty="0" err="1"/>
              <a:t>shuffling</a:t>
            </a:r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r>
              <a:rPr lang="pl-PL" b="1" dirty="0"/>
              <a:t>FILE: 3-6.ipynb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22342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7DF67-3EF6-36A5-4083-DCB3D3E85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DBCCFDF-F2C3-DF44-81E0-29D305845A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88B9D2-BCC3-945A-7CB6-465671A0D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F9B67D-7704-014F-712B-0DE5F2ADC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4E29AB-2C5F-2487-BD0E-24D022A2C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0A21DD-9982-FF97-A12A-31E6865EE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C8873A4-6C72-C44A-BBA3-42A1E8A1E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8605B5-8EC3-2476-863E-8C8805FC3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9B0EEA67-F7B0-1FB6-3F26-08992BD0F763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Early Fusion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2AC7668-8FC2-5940-C14A-F40D40D10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646" y="3681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8B0108E-8FD5-1DD8-BEAA-9C70908D3F47}"/>
              </a:ext>
            </a:extLst>
          </p:cNvPr>
          <p:cNvSpPr txBox="1"/>
          <p:nvPr/>
        </p:nvSpPr>
        <p:spPr>
          <a:xfrm>
            <a:off x="4131864" y="858594"/>
            <a:ext cx="796304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1. </a:t>
            </a:r>
            <a:r>
              <a:rPr lang="pl-PL" sz="2000" b="1" dirty="0" err="1"/>
              <a:t>struct_branch</a:t>
            </a:r>
            <a:r>
              <a:rPr lang="pl-PL" sz="2000" b="1" dirty="0"/>
              <a:t> (</a:t>
            </a:r>
            <a:r>
              <a:rPr lang="pl-PL" sz="2000" b="1" dirty="0" err="1"/>
              <a:t>Structured</a:t>
            </a:r>
            <a:r>
              <a:rPr lang="pl-PL" sz="2000" b="1" dirty="0"/>
              <a:t> </a:t>
            </a:r>
            <a:r>
              <a:rPr lang="pl-PL" sz="2000" b="1" dirty="0" err="1"/>
              <a:t>Features</a:t>
            </a:r>
            <a:r>
              <a:rPr lang="pl-PL" sz="2000" b="1" dirty="0"/>
              <a:t> Network)</a:t>
            </a:r>
          </a:p>
          <a:p>
            <a:r>
              <a:rPr lang="pl-PL" sz="2000" dirty="0" err="1"/>
              <a:t>Layers</a:t>
            </a:r>
            <a:r>
              <a:rPr lang="pl-PL" sz="2000" dirty="0"/>
              <a:t>: 1 </a:t>
            </a:r>
            <a:r>
              <a:rPr lang="pl-PL" sz="2000" dirty="0" err="1"/>
              <a:t>Linear</a:t>
            </a:r>
            <a:r>
              <a:rPr lang="pl-PL" sz="2000" dirty="0"/>
              <a:t> </a:t>
            </a:r>
            <a:r>
              <a:rPr lang="pl-PL" sz="2000" dirty="0" err="1"/>
              <a:t>layer</a:t>
            </a:r>
            <a:endParaRPr lang="pl-PL" sz="2000" dirty="0"/>
          </a:p>
          <a:p>
            <a:r>
              <a:rPr lang="pl-PL" sz="2000" dirty="0"/>
              <a:t>Architecture:</a:t>
            </a:r>
          </a:p>
          <a:p>
            <a:r>
              <a:rPr lang="pl-PL" sz="2000" dirty="0" err="1"/>
              <a:t>Linear</a:t>
            </a:r>
            <a:r>
              <a:rPr lang="pl-PL" sz="2000" dirty="0"/>
              <a:t>(</a:t>
            </a:r>
            <a:r>
              <a:rPr lang="pl-PL" sz="2000" dirty="0" err="1"/>
              <a:t>struct_dim</a:t>
            </a:r>
            <a:r>
              <a:rPr lang="pl-PL" sz="2000" dirty="0"/>
              <a:t> → 512) (69 → 512)</a:t>
            </a:r>
          </a:p>
          <a:p>
            <a:r>
              <a:rPr lang="pl-PL" sz="2000" dirty="0" err="1"/>
              <a:t>ReLU</a:t>
            </a:r>
            <a:endParaRPr lang="pl-PL" sz="2000" dirty="0"/>
          </a:p>
          <a:p>
            <a:r>
              <a:rPr lang="pl-PL" sz="2000" dirty="0" err="1"/>
              <a:t>LayerNorm</a:t>
            </a:r>
            <a:r>
              <a:rPr lang="pl-PL" sz="2000" dirty="0"/>
              <a:t>(512)</a:t>
            </a:r>
          </a:p>
          <a:p>
            <a:r>
              <a:rPr lang="pl-PL" sz="2000" dirty="0" err="1"/>
              <a:t>Output</a:t>
            </a:r>
            <a:r>
              <a:rPr lang="pl-PL" sz="2000" dirty="0"/>
              <a:t>: 512-dimensional </a:t>
            </a:r>
            <a:r>
              <a:rPr lang="pl-PL" sz="2000" dirty="0" err="1"/>
              <a:t>vector</a:t>
            </a:r>
            <a:endParaRPr lang="pl-PL" sz="2000" dirty="0"/>
          </a:p>
          <a:p>
            <a:r>
              <a:rPr lang="pl-PL" sz="2000" b="1" dirty="0"/>
              <a:t>2. </a:t>
            </a:r>
            <a:r>
              <a:rPr lang="pl-PL" sz="2000" b="1" dirty="0" err="1"/>
              <a:t>text_branch</a:t>
            </a:r>
            <a:r>
              <a:rPr lang="pl-PL" sz="2000" b="1" dirty="0"/>
              <a:t> (</a:t>
            </a:r>
            <a:r>
              <a:rPr lang="pl-PL" sz="2000" b="1" dirty="0" err="1"/>
              <a:t>Textual</a:t>
            </a:r>
            <a:r>
              <a:rPr lang="pl-PL" sz="2000" b="1" dirty="0"/>
              <a:t> </a:t>
            </a:r>
            <a:r>
              <a:rPr lang="pl-PL" sz="2000" b="1" dirty="0" err="1"/>
              <a:t>Features</a:t>
            </a:r>
            <a:r>
              <a:rPr lang="pl-PL" sz="2000" b="1" dirty="0"/>
              <a:t> Network)</a:t>
            </a:r>
          </a:p>
          <a:p>
            <a:r>
              <a:rPr lang="pl-PL" sz="2000" dirty="0" err="1"/>
              <a:t>Layers</a:t>
            </a:r>
            <a:r>
              <a:rPr lang="pl-PL" sz="2000" dirty="0"/>
              <a:t>: 1 </a:t>
            </a:r>
            <a:r>
              <a:rPr lang="pl-PL" sz="2000" dirty="0" err="1"/>
              <a:t>Linear</a:t>
            </a:r>
            <a:r>
              <a:rPr lang="pl-PL" sz="2000" dirty="0"/>
              <a:t> </a:t>
            </a:r>
            <a:r>
              <a:rPr lang="pl-PL" sz="2000" dirty="0" err="1"/>
              <a:t>layer</a:t>
            </a:r>
            <a:endParaRPr lang="pl-PL" sz="2000" dirty="0"/>
          </a:p>
          <a:p>
            <a:r>
              <a:rPr lang="pl-PL" sz="2000" dirty="0"/>
              <a:t>Architecture:</a:t>
            </a:r>
          </a:p>
          <a:p>
            <a:r>
              <a:rPr lang="pl-PL" sz="2000" dirty="0" err="1"/>
              <a:t>Linear</a:t>
            </a:r>
            <a:r>
              <a:rPr lang="pl-PL" sz="2000" dirty="0"/>
              <a:t>(50 → 512) (</a:t>
            </a:r>
            <a:r>
              <a:rPr lang="pl-PL" sz="2000" dirty="0" err="1"/>
              <a:t>text_dim</a:t>
            </a:r>
            <a:r>
              <a:rPr lang="pl-PL" sz="2000" dirty="0"/>
              <a:t> → 512)</a:t>
            </a:r>
          </a:p>
          <a:p>
            <a:r>
              <a:rPr lang="pl-PL" sz="2000" dirty="0" err="1"/>
              <a:t>ReLU</a:t>
            </a:r>
            <a:endParaRPr lang="pl-PL" sz="2000" dirty="0"/>
          </a:p>
          <a:p>
            <a:r>
              <a:rPr lang="pl-PL" sz="2000" dirty="0" err="1"/>
              <a:t>LayerNorm</a:t>
            </a:r>
            <a:r>
              <a:rPr lang="pl-PL" sz="2000" dirty="0"/>
              <a:t>(512)</a:t>
            </a:r>
          </a:p>
          <a:p>
            <a:r>
              <a:rPr lang="pl-PL" sz="2000" dirty="0" err="1"/>
              <a:t>Output</a:t>
            </a:r>
            <a:r>
              <a:rPr lang="pl-PL" sz="2000" dirty="0"/>
              <a:t>: 512-dimensional </a:t>
            </a:r>
            <a:r>
              <a:rPr lang="pl-PL" sz="2000" dirty="0" err="1"/>
              <a:t>vector</a:t>
            </a: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1883663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77A05-5665-291B-5876-514FDAED9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5E3F4C9-0374-D3FF-9879-34C7B7DF6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2E6DFA-1784-16C3-B8FC-907C158C3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E17C6B-A680-A12F-266B-CB074367D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2476C-C98A-A58A-2E71-B1A15487B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AFB037-36BC-368B-612E-24CA5B75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8C9DB1F-6948-19F5-F9F6-A14702D3F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0E27B2-EB73-4A60-0F3C-348373A8E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5A545CCA-D42D-C608-B00A-FCFD7776E12D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Early Fusion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5603B7F-FAA3-5812-A392-79D772400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646" y="3681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3FAF99E-7BDD-931B-B714-339A29C20553}"/>
              </a:ext>
            </a:extLst>
          </p:cNvPr>
          <p:cNvSpPr txBox="1"/>
          <p:nvPr/>
        </p:nvSpPr>
        <p:spPr>
          <a:xfrm>
            <a:off x="4114164" y="107555"/>
            <a:ext cx="796304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3. </a:t>
            </a:r>
            <a:r>
              <a:rPr lang="pl-PL" sz="2000" b="1" dirty="0" err="1"/>
              <a:t>combined</a:t>
            </a:r>
            <a:r>
              <a:rPr lang="pl-PL" sz="2000" b="1" dirty="0"/>
              <a:t> (Fusion Network)</a:t>
            </a:r>
          </a:p>
          <a:p>
            <a:r>
              <a:rPr lang="pl-PL" sz="2000" dirty="0" err="1"/>
              <a:t>Layers</a:t>
            </a:r>
            <a:r>
              <a:rPr lang="pl-PL" sz="2000" dirty="0"/>
              <a:t>: 3 </a:t>
            </a:r>
            <a:r>
              <a:rPr lang="pl-PL" sz="2000" dirty="0" err="1"/>
              <a:t>Linear</a:t>
            </a:r>
            <a:r>
              <a:rPr lang="pl-PL" sz="2000" dirty="0"/>
              <a:t> </a:t>
            </a:r>
            <a:r>
              <a:rPr lang="pl-PL" sz="2000" dirty="0" err="1"/>
              <a:t>layers</a:t>
            </a:r>
            <a:endParaRPr lang="pl-PL" sz="2000" dirty="0"/>
          </a:p>
          <a:p>
            <a:r>
              <a:rPr lang="pl-PL" sz="2000" dirty="0"/>
              <a:t>Architecture:</a:t>
            </a:r>
          </a:p>
          <a:p>
            <a:r>
              <a:rPr lang="pl-PL" sz="2000" dirty="0" err="1"/>
              <a:t>Layer</a:t>
            </a:r>
            <a:r>
              <a:rPr lang="pl-PL" sz="2000" dirty="0"/>
              <a:t> 1: </a:t>
            </a:r>
            <a:r>
              <a:rPr lang="pl-PL" sz="2000" dirty="0" err="1"/>
              <a:t>Linear</a:t>
            </a:r>
            <a:r>
              <a:rPr lang="pl-PL" sz="2000" dirty="0"/>
              <a:t>(1024 → 256) (</a:t>
            </a:r>
            <a:r>
              <a:rPr lang="pl-PL" sz="2000" dirty="0" err="1"/>
              <a:t>concatenated</a:t>
            </a:r>
            <a:r>
              <a:rPr lang="pl-PL" sz="2000" dirty="0"/>
              <a:t> 512+512 → 256)</a:t>
            </a:r>
          </a:p>
          <a:p>
            <a:r>
              <a:rPr lang="pl-PL" sz="2000" dirty="0" err="1"/>
              <a:t>ReLU</a:t>
            </a:r>
            <a:endParaRPr lang="pl-PL" sz="2000" dirty="0"/>
          </a:p>
          <a:p>
            <a:r>
              <a:rPr lang="pl-PL" sz="2000" dirty="0" err="1"/>
              <a:t>LayerNorm</a:t>
            </a:r>
            <a:r>
              <a:rPr lang="pl-PL" sz="2000" dirty="0"/>
              <a:t>(256)</a:t>
            </a:r>
          </a:p>
          <a:p>
            <a:r>
              <a:rPr lang="pl-PL" sz="2000" dirty="0" err="1"/>
              <a:t>Dropout</a:t>
            </a:r>
            <a:r>
              <a:rPr lang="pl-PL" sz="2000" dirty="0"/>
              <a:t>(0.3)</a:t>
            </a:r>
          </a:p>
          <a:p>
            <a:r>
              <a:rPr lang="pl-PL" sz="2000" dirty="0" err="1"/>
              <a:t>Layer</a:t>
            </a:r>
            <a:r>
              <a:rPr lang="pl-PL" sz="2000" dirty="0"/>
              <a:t> 2: </a:t>
            </a:r>
            <a:r>
              <a:rPr lang="pl-PL" sz="2000" dirty="0" err="1"/>
              <a:t>Linear</a:t>
            </a:r>
            <a:r>
              <a:rPr lang="pl-PL" sz="2000" dirty="0"/>
              <a:t>(256 → 128)</a:t>
            </a:r>
          </a:p>
          <a:p>
            <a:r>
              <a:rPr lang="pl-PL" sz="2000" dirty="0" err="1"/>
              <a:t>ReLU</a:t>
            </a:r>
            <a:endParaRPr lang="pl-PL" sz="2000" dirty="0"/>
          </a:p>
          <a:p>
            <a:r>
              <a:rPr lang="pl-PL" sz="2000" dirty="0" err="1"/>
              <a:t>Dropout</a:t>
            </a:r>
            <a:r>
              <a:rPr lang="pl-PL" sz="2000" dirty="0"/>
              <a:t>(0.3)</a:t>
            </a:r>
          </a:p>
          <a:p>
            <a:r>
              <a:rPr lang="pl-PL" sz="2000" dirty="0" err="1"/>
              <a:t>Layer</a:t>
            </a:r>
            <a:r>
              <a:rPr lang="pl-PL" sz="2000" dirty="0"/>
              <a:t> 3: </a:t>
            </a:r>
            <a:r>
              <a:rPr lang="pl-PL" sz="2000" dirty="0" err="1"/>
              <a:t>Linear</a:t>
            </a:r>
            <a:r>
              <a:rPr lang="pl-PL" sz="2000" dirty="0"/>
              <a:t>(128 → 1)</a:t>
            </a:r>
          </a:p>
          <a:p>
            <a:r>
              <a:rPr lang="pl-PL" sz="2000" dirty="0" err="1"/>
              <a:t>Output</a:t>
            </a:r>
            <a:r>
              <a:rPr lang="pl-PL" sz="2000" dirty="0"/>
              <a:t>: 1-dimensional </a:t>
            </a:r>
            <a:r>
              <a:rPr lang="pl-PL" sz="2000" dirty="0" err="1"/>
              <a:t>scalar</a:t>
            </a:r>
            <a:r>
              <a:rPr lang="pl-PL" sz="2000" dirty="0"/>
              <a:t> (</a:t>
            </a:r>
            <a:r>
              <a:rPr lang="pl-PL" sz="2000" dirty="0" err="1"/>
              <a:t>regression</a:t>
            </a:r>
            <a:r>
              <a:rPr lang="pl-PL" sz="2000" dirty="0"/>
              <a:t> </a:t>
            </a:r>
            <a:r>
              <a:rPr lang="pl-PL" sz="2000" dirty="0" err="1"/>
              <a:t>prediction</a:t>
            </a:r>
            <a:r>
              <a:rPr lang="pl-PL" sz="2000" dirty="0"/>
              <a:t>)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95879C1-8BEE-5B65-1651-02F4AD4E2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332" y="5182451"/>
            <a:ext cx="7772400" cy="94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53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F4DF58-06CD-9F7B-BC84-5CE1B52B7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BE96A3B-C1A2-7F76-BDB9-285B6298B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758FC6-7ED4-A6E4-043E-6945A95CE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2AB282-F44A-CB6F-C591-7EBB652D3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1F4089-8054-91DE-C7C8-504CA68F5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7EAC4C-C2FB-9CEE-83BF-00FA0E75E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6DF583A-F33A-7B79-F20F-DE73DD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954113-E776-1529-337F-E3E1316EB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70B9F615-A622-70DD-9337-260B87D6DE13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Early Fusion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5E18713-F568-C718-BCD9-B8FD4C3EA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646" y="3681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E48811C-2773-29DD-389B-AC232A3EF8D3}"/>
              </a:ext>
            </a:extLst>
          </p:cNvPr>
          <p:cNvSpPr txBox="1"/>
          <p:nvPr/>
        </p:nvSpPr>
        <p:spPr>
          <a:xfrm>
            <a:off x="4114164" y="107555"/>
            <a:ext cx="796304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3. </a:t>
            </a:r>
            <a:r>
              <a:rPr lang="pl-PL" sz="2000" b="1" dirty="0" err="1"/>
              <a:t>combined</a:t>
            </a:r>
            <a:r>
              <a:rPr lang="pl-PL" sz="2000" b="1" dirty="0"/>
              <a:t> (Fusion Network)</a:t>
            </a:r>
          </a:p>
          <a:p>
            <a:r>
              <a:rPr lang="pl-PL" sz="2000" dirty="0" err="1"/>
              <a:t>Layers</a:t>
            </a:r>
            <a:r>
              <a:rPr lang="pl-PL" sz="2000" dirty="0"/>
              <a:t>: 3 </a:t>
            </a:r>
            <a:r>
              <a:rPr lang="pl-PL" sz="2000" dirty="0" err="1"/>
              <a:t>Linear</a:t>
            </a:r>
            <a:r>
              <a:rPr lang="pl-PL" sz="2000" dirty="0"/>
              <a:t> </a:t>
            </a:r>
            <a:r>
              <a:rPr lang="pl-PL" sz="2000" dirty="0" err="1"/>
              <a:t>layers</a:t>
            </a:r>
            <a:endParaRPr lang="pl-PL" sz="2000" dirty="0"/>
          </a:p>
          <a:p>
            <a:r>
              <a:rPr lang="pl-PL" sz="2000" dirty="0"/>
              <a:t>Architecture:</a:t>
            </a:r>
          </a:p>
          <a:p>
            <a:r>
              <a:rPr lang="pl-PL" sz="2000" dirty="0" err="1"/>
              <a:t>Layer</a:t>
            </a:r>
            <a:r>
              <a:rPr lang="pl-PL" sz="2000" dirty="0"/>
              <a:t> 1: </a:t>
            </a:r>
            <a:r>
              <a:rPr lang="pl-PL" sz="2000" dirty="0" err="1"/>
              <a:t>Linear</a:t>
            </a:r>
            <a:r>
              <a:rPr lang="pl-PL" sz="2000" dirty="0"/>
              <a:t>(1024 → 256) (</a:t>
            </a:r>
            <a:r>
              <a:rPr lang="pl-PL" sz="2000" dirty="0" err="1"/>
              <a:t>concatenated</a:t>
            </a:r>
            <a:r>
              <a:rPr lang="pl-PL" sz="2000" dirty="0"/>
              <a:t> 512+512 → 256)</a:t>
            </a:r>
          </a:p>
          <a:p>
            <a:r>
              <a:rPr lang="pl-PL" sz="2000" dirty="0" err="1"/>
              <a:t>ReLU</a:t>
            </a:r>
            <a:endParaRPr lang="pl-PL" sz="2000" dirty="0"/>
          </a:p>
          <a:p>
            <a:r>
              <a:rPr lang="pl-PL" sz="2000" dirty="0" err="1"/>
              <a:t>LayerNorm</a:t>
            </a:r>
            <a:r>
              <a:rPr lang="pl-PL" sz="2000" dirty="0"/>
              <a:t>(256)</a:t>
            </a:r>
          </a:p>
          <a:p>
            <a:r>
              <a:rPr lang="pl-PL" sz="2000" dirty="0" err="1"/>
              <a:t>Dropout</a:t>
            </a:r>
            <a:r>
              <a:rPr lang="pl-PL" sz="2000" dirty="0"/>
              <a:t>(0.3)</a:t>
            </a:r>
          </a:p>
          <a:p>
            <a:r>
              <a:rPr lang="pl-PL" sz="2000" dirty="0" err="1"/>
              <a:t>Layer</a:t>
            </a:r>
            <a:r>
              <a:rPr lang="pl-PL" sz="2000" dirty="0"/>
              <a:t> 2: </a:t>
            </a:r>
            <a:r>
              <a:rPr lang="pl-PL" sz="2000" dirty="0" err="1"/>
              <a:t>Linear</a:t>
            </a:r>
            <a:r>
              <a:rPr lang="pl-PL" sz="2000" dirty="0"/>
              <a:t>(256 → 128)</a:t>
            </a:r>
          </a:p>
          <a:p>
            <a:r>
              <a:rPr lang="pl-PL" sz="2000" dirty="0" err="1"/>
              <a:t>ReLU</a:t>
            </a:r>
            <a:endParaRPr lang="pl-PL" sz="2000" dirty="0"/>
          </a:p>
          <a:p>
            <a:r>
              <a:rPr lang="pl-PL" sz="2000" dirty="0" err="1"/>
              <a:t>Dropout</a:t>
            </a:r>
            <a:r>
              <a:rPr lang="pl-PL" sz="2000" dirty="0"/>
              <a:t>(0.3)</a:t>
            </a:r>
          </a:p>
          <a:p>
            <a:r>
              <a:rPr lang="pl-PL" sz="2000" dirty="0" err="1"/>
              <a:t>Layer</a:t>
            </a:r>
            <a:r>
              <a:rPr lang="pl-PL" sz="2000" dirty="0"/>
              <a:t> 3: </a:t>
            </a:r>
            <a:r>
              <a:rPr lang="pl-PL" sz="2000" dirty="0" err="1"/>
              <a:t>Linear</a:t>
            </a:r>
            <a:r>
              <a:rPr lang="pl-PL" sz="2000" dirty="0"/>
              <a:t>(128 → 1)</a:t>
            </a:r>
          </a:p>
          <a:p>
            <a:r>
              <a:rPr lang="pl-PL" sz="2000" dirty="0" err="1"/>
              <a:t>Output</a:t>
            </a:r>
            <a:r>
              <a:rPr lang="pl-PL" sz="2000" dirty="0"/>
              <a:t>: 1-dimensional </a:t>
            </a:r>
            <a:r>
              <a:rPr lang="pl-PL" sz="2000" dirty="0" err="1"/>
              <a:t>scalar</a:t>
            </a:r>
            <a:r>
              <a:rPr lang="pl-PL" sz="2000" dirty="0"/>
              <a:t> (</a:t>
            </a:r>
            <a:r>
              <a:rPr lang="pl-PL" sz="2000" dirty="0" err="1"/>
              <a:t>regression</a:t>
            </a:r>
            <a:r>
              <a:rPr lang="pl-PL" sz="2000" dirty="0"/>
              <a:t> </a:t>
            </a:r>
            <a:r>
              <a:rPr lang="pl-PL" sz="2000" dirty="0" err="1"/>
              <a:t>prediction</a:t>
            </a:r>
            <a:r>
              <a:rPr lang="pl-PL" sz="2000" dirty="0"/>
              <a:t>)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042F9375-6381-7934-EB58-3C762B509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332" y="5182451"/>
            <a:ext cx="7772400" cy="94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337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5C311-B5DD-ABB8-B7C7-2B97778E1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0AC17C-9D12-ADBB-B387-FD8E32D05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2F7CCFE-4B69-DC2F-6AD6-81A059D60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D8B957-3E1F-A46C-A791-3E053DA9F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87CDCC-8DE1-660C-1C0D-F711170DA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0FB667-D6A8-E1F0-8359-54F3612F8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2BB357-6E88-30FC-6FF5-CFF5941C5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681FD5-FE5C-78A4-69AC-72F0C344B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158A4373-930C-2393-6C93-C712DBAFED5B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Late Fusion with two independent MLP models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6D13D17-3895-5F20-BDC6-9888F4B7C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646" y="3681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BBEE06FB-28EE-5723-548D-43E3B976CCD8}"/>
              </a:ext>
            </a:extLst>
          </p:cNvPr>
          <p:cNvSpPr txBox="1"/>
          <p:nvPr/>
        </p:nvSpPr>
        <p:spPr>
          <a:xfrm>
            <a:off x="4225911" y="3360236"/>
            <a:ext cx="796304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dirty="0"/>
              <a:t>Architecture: </a:t>
            </a:r>
            <a:r>
              <a:rPr lang="pl-PL" sz="2000" dirty="0" err="1"/>
              <a:t>Late</a:t>
            </a:r>
            <a:r>
              <a:rPr lang="pl-PL" sz="2000" dirty="0"/>
              <a:t> Fusion with </a:t>
            </a:r>
            <a:r>
              <a:rPr lang="pl-PL" sz="2000" dirty="0" err="1"/>
              <a:t>two</a:t>
            </a:r>
            <a:r>
              <a:rPr lang="pl-PL" sz="2000" dirty="0"/>
              <a:t> independent MLP </a:t>
            </a:r>
            <a:r>
              <a:rPr lang="pl-PL" sz="2000" dirty="0" err="1"/>
              <a:t>models</a:t>
            </a:r>
            <a:endParaRPr lang="pl-PL" sz="2000" dirty="0"/>
          </a:p>
          <a:p>
            <a:r>
              <a:rPr lang="pl-PL" sz="2000" dirty="0"/>
              <a:t>Model 1 - </a:t>
            </a:r>
            <a:r>
              <a:rPr lang="pl-PL" sz="2000" dirty="0" err="1"/>
              <a:t>Structured</a:t>
            </a:r>
            <a:r>
              <a:rPr lang="pl-PL" sz="2000" dirty="0"/>
              <a:t> </a:t>
            </a:r>
            <a:r>
              <a:rPr lang="pl-PL" sz="2000" dirty="0" err="1"/>
              <a:t>Features</a:t>
            </a:r>
            <a:r>
              <a:rPr lang="pl-PL" sz="2000" dirty="0"/>
              <a:t> MLP:</a:t>
            </a:r>
          </a:p>
          <a:p>
            <a:r>
              <a:rPr lang="pl-PL" sz="2000" dirty="0"/>
              <a:t>Input: 119 </a:t>
            </a:r>
            <a:r>
              <a:rPr lang="pl-PL" sz="2000" dirty="0" err="1"/>
              <a:t>structured</a:t>
            </a:r>
            <a:r>
              <a:rPr lang="pl-PL" sz="2000" dirty="0"/>
              <a:t> </a:t>
            </a:r>
            <a:r>
              <a:rPr lang="pl-PL" sz="2000" dirty="0" err="1"/>
              <a:t>features</a:t>
            </a:r>
            <a:r>
              <a:rPr lang="pl-PL" sz="2000" dirty="0"/>
              <a:t> (</a:t>
            </a:r>
            <a:r>
              <a:rPr lang="pl-PL" sz="2000" dirty="0" err="1"/>
              <a:t>continuous</a:t>
            </a:r>
            <a:r>
              <a:rPr lang="pl-PL" sz="2000" dirty="0"/>
              <a:t> + </a:t>
            </a:r>
            <a:r>
              <a:rPr lang="pl-PL" sz="2000" dirty="0" err="1"/>
              <a:t>categorical</a:t>
            </a:r>
            <a:r>
              <a:rPr lang="pl-PL" sz="2000" dirty="0"/>
              <a:t>)</a:t>
            </a:r>
          </a:p>
          <a:p>
            <a:r>
              <a:rPr lang="pl-PL" sz="2000" dirty="0" err="1"/>
              <a:t>Hidden</a:t>
            </a:r>
            <a:r>
              <a:rPr lang="pl-PL" sz="2000" dirty="0"/>
              <a:t> </a:t>
            </a:r>
            <a:r>
              <a:rPr lang="pl-PL" sz="2000" dirty="0" err="1"/>
              <a:t>layers</a:t>
            </a:r>
            <a:r>
              <a:rPr lang="pl-PL" sz="2000" dirty="0"/>
              <a:t>: </a:t>
            </a:r>
            <a:r>
              <a:rPr lang="pl-PL" sz="2000" dirty="0" err="1"/>
              <a:t>Two</a:t>
            </a:r>
            <a:r>
              <a:rPr lang="pl-PL" sz="2000" dirty="0"/>
              <a:t> </a:t>
            </a:r>
            <a:r>
              <a:rPr lang="pl-PL" sz="2000" dirty="0" err="1"/>
              <a:t>layers</a:t>
            </a:r>
            <a:r>
              <a:rPr lang="pl-PL" sz="2000" dirty="0"/>
              <a:t> (</a:t>
            </a:r>
            <a:r>
              <a:rPr lang="pl-PL" sz="2000" dirty="0" err="1"/>
              <a:t>hidden_dims</a:t>
            </a:r>
            <a:r>
              <a:rPr lang="pl-PL" sz="2000" dirty="0"/>
              <a:t>=[256, 128])</a:t>
            </a:r>
          </a:p>
          <a:p>
            <a:r>
              <a:rPr lang="pl-PL" sz="2000" dirty="0" err="1"/>
              <a:t>Normalization</a:t>
            </a:r>
            <a:r>
              <a:rPr lang="pl-PL" sz="2000" dirty="0"/>
              <a:t>: </a:t>
            </a:r>
            <a:r>
              <a:rPr lang="pl-PL" sz="2000" dirty="0" err="1"/>
              <a:t>LayerNorm</a:t>
            </a:r>
            <a:r>
              <a:rPr lang="pl-PL" sz="2000" dirty="0"/>
              <a:t> </a:t>
            </a:r>
            <a:r>
              <a:rPr lang="pl-PL" sz="2000" dirty="0" err="1"/>
              <a:t>after</a:t>
            </a:r>
            <a:r>
              <a:rPr lang="pl-PL" sz="2000" dirty="0"/>
              <a:t> </a:t>
            </a:r>
            <a:r>
              <a:rPr lang="pl-PL" sz="2000" dirty="0" err="1"/>
              <a:t>first</a:t>
            </a:r>
            <a:r>
              <a:rPr lang="pl-PL" sz="2000" dirty="0"/>
              <a:t> </a:t>
            </a:r>
            <a:r>
              <a:rPr lang="pl-PL" sz="2000" dirty="0" err="1"/>
              <a:t>hidden</a:t>
            </a:r>
            <a:r>
              <a:rPr lang="pl-PL" sz="2000" dirty="0"/>
              <a:t> </a:t>
            </a:r>
            <a:r>
              <a:rPr lang="pl-PL" sz="2000" dirty="0" err="1"/>
              <a:t>layer</a:t>
            </a:r>
            <a:endParaRPr lang="pl-PL" sz="2000" dirty="0"/>
          </a:p>
          <a:p>
            <a:r>
              <a:rPr lang="pl-PL" sz="2000" dirty="0" err="1"/>
              <a:t>Regularization</a:t>
            </a:r>
            <a:r>
              <a:rPr lang="pl-PL" sz="2000" dirty="0"/>
              <a:t>: </a:t>
            </a:r>
            <a:r>
              <a:rPr lang="pl-PL" sz="2000" dirty="0" err="1"/>
              <a:t>Dropout</a:t>
            </a:r>
            <a:r>
              <a:rPr lang="pl-PL" sz="2000" dirty="0"/>
              <a:t> 0.3 </a:t>
            </a:r>
            <a:r>
              <a:rPr lang="pl-PL" sz="2000" dirty="0" err="1"/>
              <a:t>after</a:t>
            </a:r>
            <a:r>
              <a:rPr lang="pl-PL" sz="2000" dirty="0"/>
              <a:t> </a:t>
            </a:r>
            <a:r>
              <a:rPr lang="pl-PL" sz="2000" dirty="0" err="1"/>
              <a:t>each</a:t>
            </a:r>
            <a:r>
              <a:rPr lang="pl-PL" sz="2000" dirty="0"/>
              <a:t> </a:t>
            </a:r>
            <a:r>
              <a:rPr lang="pl-PL" sz="2000" dirty="0" err="1"/>
              <a:t>hidden</a:t>
            </a:r>
            <a:r>
              <a:rPr lang="pl-PL" sz="2000" dirty="0"/>
              <a:t> </a:t>
            </a:r>
            <a:r>
              <a:rPr lang="pl-PL" sz="2000" dirty="0" err="1"/>
              <a:t>layer</a:t>
            </a:r>
            <a:endParaRPr lang="pl-PL" sz="2000" dirty="0"/>
          </a:p>
          <a:p>
            <a:r>
              <a:rPr lang="pl-PL" sz="2000" dirty="0" err="1"/>
              <a:t>Output</a:t>
            </a:r>
            <a:r>
              <a:rPr lang="pl-PL" sz="2000" dirty="0"/>
              <a:t>: 1-dimensional </a:t>
            </a:r>
            <a:r>
              <a:rPr lang="pl-PL" sz="2000" dirty="0" err="1"/>
              <a:t>prediction</a:t>
            </a:r>
            <a:endParaRPr lang="pl-PL" sz="2000" dirty="0"/>
          </a:p>
          <a:p>
            <a:endParaRPr lang="pl-PL" sz="2000" dirty="0"/>
          </a:p>
          <a:p>
            <a:endParaRPr lang="pl-PL" sz="2000" dirty="0"/>
          </a:p>
          <a:p>
            <a:r>
              <a:rPr lang="pl-PL" sz="2000" b="1" dirty="0"/>
              <a:t>FILE: 3-7.ipynb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94D9F2-2C7F-EB72-2CE9-B1D0684C8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2" y="254345"/>
            <a:ext cx="13306172" cy="6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l-P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5BD453-F139-BD59-FA3D-23B500A1C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l-PL"/>
          </a:p>
        </p:txBody>
      </p:sp>
      <p:pic>
        <p:nvPicPr>
          <p:cNvPr id="3077" name="Obraz 4" descr="Obraz zawierający tekst, zrzut ekranu, linia, diagram&#10;&#10;Zawartość wygenerowana przez AI może być niepoprawna.">
            <a:extLst>
              <a:ext uri="{FF2B5EF4-FFF2-40B4-BE49-F238E27FC236}">
                <a16:creationId xmlns:a16="http://schemas.microsoft.com/office/drawing/2014/main" id="{DDA1A144-622B-1928-7124-39CC2B31B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737" y="129876"/>
            <a:ext cx="10945963" cy="224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967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ABA01-9D90-7784-C080-873A82980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37FA803-A1F6-7BFA-CDCF-0390FDE11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00BD90A-627A-F97A-CD47-CA69B567D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770AD6-6279-53C0-58E7-7C5610955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A89E29-D152-F471-221D-8CCD3FFC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4F74F3-C1ED-90EC-B895-EA57AE865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DD5AFA3-D76D-72E4-CA09-D0B47BEC6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9FD1EF-6034-CADB-1700-F4A84C9F6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02FE9F39-2DCF-8E6C-D93A-74171CB8F838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Late Fusion with two independent MLP models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9F1A0DB-93A4-BFDF-57EA-43B783E55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646" y="3681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83C7B5B0-AAE1-BECF-0F94-FE45D5794950}"/>
              </a:ext>
            </a:extLst>
          </p:cNvPr>
          <p:cNvSpPr txBox="1"/>
          <p:nvPr/>
        </p:nvSpPr>
        <p:spPr>
          <a:xfrm>
            <a:off x="4114164" y="107555"/>
            <a:ext cx="796304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dirty="0"/>
              <a:t>Model 2 - </a:t>
            </a:r>
            <a:r>
              <a:rPr lang="pl-PL" sz="2000" dirty="0" err="1"/>
              <a:t>Textual</a:t>
            </a:r>
            <a:r>
              <a:rPr lang="pl-PL" sz="2000" dirty="0"/>
              <a:t> </a:t>
            </a:r>
            <a:r>
              <a:rPr lang="pl-PL" sz="2000" dirty="0" err="1"/>
              <a:t>Features</a:t>
            </a:r>
            <a:r>
              <a:rPr lang="pl-PL" sz="2000" dirty="0"/>
              <a:t> MLP:</a:t>
            </a:r>
          </a:p>
          <a:p>
            <a:r>
              <a:rPr lang="pl-PL" sz="2000" dirty="0"/>
              <a:t>Input: 50 PCA </a:t>
            </a:r>
            <a:r>
              <a:rPr lang="pl-PL" sz="2000" dirty="0" err="1"/>
              <a:t>components</a:t>
            </a:r>
            <a:r>
              <a:rPr lang="pl-PL" sz="2000" dirty="0"/>
              <a:t> (desc_pca_0 to desc_pca_49)</a:t>
            </a:r>
          </a:p>
          <a:p>
            <a:r>
              <a:rPr lang="pl-PL" sz="2000" dirty="0" err="1"/>
              <a:t>Hidden</a:t>
            </a:r>
            <a:r>
              <a:rPr lang="pl-PL" sz="2000" dirty="0"/>
              <a:t> </a:t>
            </a:r>
            <a:r>
              <a:rPr lang="pl-PL" sz="2000" dirty="0" err="1"/>
              <a:t>layers</a:t>
            </a:r>
            <a:r>
              <a:rPr lang="pl-PL" sz="2000" dirty="0"/>
              <a:t>: </a:t>
            </a:r>
            <a:r>
              <a:rPr lang="pl-PL" sz="2000" dirty="0" err="1"/>
              <a:t>Two</a:t>
            </a:r>
            <a:r>
              <a:rPr lang="pl-PL" sz="2000" dirty="0"/>
              <a:t> </a:t>
            </a:r>
            <a:r>
              <a:rPr lang="pl-PL" sz="2000" dirty="0" err="1"/>
              <a:t>layers</a:t>
            </a:r>
            <a:r>
              <a:rPr lang="pl-PL" sz="2000" dirty="0"/>
              <a:t> (</a:t>
            </a:r>
            <a:r>
              <a:rPr lang="pl-PL" sz="2000" dirty="0" err="1"/>
              <a:t>hidden_dims</a:t>
            </a:r>
            <a:r>
              <a:rPr lang="pl-PL" sz="2000" dirty="0"/>
              <a:t>=[256, 128])</a:t>
            </a:r>
          </a:p>
          <a:p>
            <a:r>
              <a:rPr lang="pl-PL" sz="2000" dirty="0" err="1"/>
              <a:t>Normalization</a:t>
            </a:r>
            <a:r>
              <a:rPr lang="pl-PL" sz="2000" dirty="0"/>
              <a:t>: </a:t>
            </a:r>
            <a:r>
              <a:rPr lang="pl-PL" sz="2000" dirty="0" err="1"/>
              <a:t>LayerNorm</a:t>
            </a:r>
            <a:r>
              <a:rPr lang="pl-PL" sz="2000" dirty="0"/>
              <a:t> </a:t>
            </a:r>
            <a:r>
              <a:rPr lang="pl-PL" sz="2000" dirty="0" err="1"/>
              <a:t>after</a:t>
            </a:r>
            <a:r>
              <a:rPr lang="pl-PL" sz="2000" dirty="0"/>
              <a:t> </a:t>
            </a:r>
            <a:r>
              <a:rPr lang="pl-PL" sz="2000" dirty="0" err="1"/>
              <a:t>first</a:t>
            </a:r>
            <a:r>
              <a:rPr lang="pl-PL" sz="2000" dirty="0"/>
              <a:t> </a:t>
            </a:r>
            <a:r>
              <a:rPr lang="pl-PL" sz="2000" dirty="0" err="1"/>
              <a:t>hidden</a:t>
            </a:r>
            <a:r>
              <a:rPr lang="pl-PL" sz="2000" dirty="0"/>
              <a:t> </a:t>
            </a:r>
            <a:r>
              <a:rPr lang="pl-PL" sz="2000" dirty="0" err="1"/>
              <a:t>layer</a:t>
            </a:r>
            <a:endParaRPr lang="pl-PL" sz="2000" dirty="0"/>
          </a:p>
          <a:p>
            <a:r>
              <a:rPr lang="pl-PL" sz="2000" dirty="0" err="1"/>
              <a:t>Regularization</a:t>
            </a:r>
            <a:r>
              <a:rPr lang="pl-PL" sz="2000" dirty="0"/>
              <a:t>: </a:t>
            </a:r>
            <a:r>
              <a:rPr lang="pl-PL" sz="2000" dirty="0" err="1"/>
              <a:t>Dropout</a:t>
            </a:r>
            <a:r>
              <a:rPr lang="pl-PL" sz="2000" dirty="0"/>
              <a:t> 0.3 </a:t>
            </a:r>
            <a:r>
              <a:rPr lang="pl-PL" sz="2000" dirty="0" err="1"/>
              <a:t>after</a:t>
            </a:r>
            <a:r>
              <a:rPr lang="pl-PL" sz="2000" dirty="0"/>
              <a:t> </a:t>
            </a:r>
            <a:r>
              <a:rPr lang="pl-PL" sz="2000" dirty="0" err="1"/>
              <a:t>each</a:t>
            </a:r>
            <a:r>
              <a:rPr lang="pl-PL" sz="2000" dirty="0"/>
              <a:t> </a:t>
            </a:r>
            <a:r>
              <a:rPr lang="pl-PL" sz="2000" dirty="0" err="1"/>
              <a:t>hidden</a:t>
            </a:r>
            <a:r>
              <a:rPr lang="pl-PL" sz="2000" dirty="0"/>
              <a:t> </a:t>
            </a:r>
            <a:r>
              <a:rPr lang="pl-PL" sz="2000" dirty="0" err="1"/>
              <a:t>layer</a:t>
            </a:r>
            <a:endParaRPr lang="pl-PL" sz="2000" dirty="0"/>
          </a:p>
          <a:p>
            <a:r>
              <a:rPr lang="pl-PL" sz="2000" dirty="0" err="1"/>
              <a:t>Output</a:t>
            </a:r>
            <a:r>
              <a:rPr lang="pl-PL" sz="2000" dirty="0"/>
              <a:t>: 1-dimensional </a:t>
            </a:r>
            <a:r>
              <a:rPr lang="pl-PL" sz="2000" dirty="0" err="1"/>
              <a:t>prediction</a:t>
            </a:r>
            <a:endParaRPr lang="pl-PL" sz="2000" dirty="0"/>
          </a:p>
          <a:p>
            <a:r>
              <a:rPr lang="pl-PL" sz="2000" dirty="0"/>
              <a:t>Fusion </a:t>
            </a:r>
            <a:r>
              <a:rPr lang="pl-PL" sz="2000" dirty="0" err="1"/>
              <a:t>strategy</a:t>
            </a:r>
            <a:r>
              <a:rPr lang="pl-PL" sz="2000" dirty="0"/>
              <a:t>: </a:t>
            </a:r>
            <a:r>
              <a:rPr lang="pl-PL" sz="2000" dirty="0" err="1"/>
              <a:t>Late</a:t>
            </a:r>
            <a:r>
              <a:rPr lang="pl-PL" sz="2000" dirty="0"/>
              <a:t> </a:t>
            </a:r>
            <a:r>
              <a:rPr lang="pl-PL" sz="2000" dirty="0" err="1"/>
              <a:t>fusion</a:t>
            </a:r>
            <a:r>
              <a:rPr lang="pl-PL" sz="2000" dirty="0"/>
              <a:t> via </a:t>
            </a:r>
            <a:r>
              <a:rPr lang="pl-PL" sz="2000" dirty="0" err="1"/>
              <a:t>weighted</a:t>
            </a:r>
            <a:r>
              <a:rPr lang="pl-PL" sz="2000" dirty="0"/>
              <a:t> </a:t>
            </a:r>
            <a:r>
              <a:rPr lang="pl-PL" sz="2000" dirty="0" err="1"/>
              <a:t>average</a:t>
            </a:r>
            <a:r>
              <a:rPr lang="pl-PL" sz="2000" dirty="0"/>
              <a:t> (0.5 × </a:t>
            </a:r>
            <a:r>
              <a:rPr lang="pl-PL" sz="2000" dirty="0" err="1"/>
              <a:t>structured_pred</a:t>
            </a:r>
            <a:r>
              <a:rPr lang="pl-PL" sz="2000" dirty="0"/>
              <a:t> + 0.5 × </a:t>
            </a:r>
            <a:r>
              <a:rPr lang="pl-PL" sz="2000" dirty="0" err="1"/>
              <a:t>text_pred</a:t>
            </a:r>
            <a:r>
              <a:rPr lang="pl-PL" sz="2000" dirty="0"/>
              <a:t>)</a:t>
            </a:r>
          </a:p>
          <a:p>
            <a:r>
              <a:rPr lang="pl-PL" sz="2000" dirty="0"/>
              <a:t>Training </a:t>
            </a:r>
            <a:r>
              <a:rPr lang="pl-PL" sz="2000" dirty="0" err="1"/>
              <a:t>configuration</a:t>
            </a:r>
            <a:r>
              <a:rPr lang="pl-PL" sz="2000" dirty="0"/>
              <a:t>:</a:t>
            </a:r>
          </a:p>
          <a:p>
            <a:r>
              <a:rPr lang="pl-PL" sz="2000" dirty="0" err="1"/>
              <a:t>Optimizer</a:t>
            </a:r>
            <a:r>
              <a:rPr lang="pl-PL" sz="2000" dirty="0"/>
              <a:t>: Adam with </a:t>
            </a:r>
            <a:r>
              <a:rPr lang="pl-PL" sz="2000" dirty="0" err="1"/>
              <a:t>lr</a:t>
            </a:r>
            <a:r>
              <a:rPr lang="pl-PL" sz="2000" dirty="0"/>
              <a:t>=0.001 (</a:t>
            </a:r>
            <a:r>
              <a:rPr lang="pl-PL" sz="2000" dirty="0" err="1"/>
              <a:t>separate</a:t>
            </a:r>
            <a:r>
              <a:rPr lang="pl-PL" sz="2000" dirty="0"/>
              <a:t> </a:t>
            </a:r>
            <a:r>
              <a:rPr lang="pl-PL" sz="2000" dirty="0" err="1"/>
              <a:t>optimizers</a:t>
            </a:r>
            <a:r>
              <a:rPr lang="pl-PL" sz="2000" dirty="0"/>
              <a:t> for </a:t>
            </a:r>
            <a:r>
              <a:rPr lang="pl-PL" sz="2000" dirty="0" err="1"/>
              <a:t>each</a:t>
            </a:r>
            <a:r>
              <a:rPr lang="pl-PL" sz="2000" dirty="0"/>
              <a:t> model)</a:t>
            </a:r>
          </a:p>
          <a:p>
            <a:r>
              <a:rPr lang="pl-PL" sz="2000" dirty="0" err="1"/>
              <a:t>Batch</a:t>
            </a:r>
            <a:r>
              <a:rPr lang="pl-PL" sz="2000" dirty="0"/>
              <a:t> </a:t>
            </a:r>
            <a:r>
              <a:rPr lang="pl-PL" sz="2000" dirty="0" err="1"/>
              <a:t>size</a:t>
            </a:r>
            <a:r>
              <a:rPr lang="pl-PL" sz="2000" dirty="0"/>
              <a:t>: 1024</a:t>
            </a:r>
          </a:p>
          <a:p>
            <a:r>
              <a:rPr lang="pl-PL" sz="2000" dirty="0"/>
              <a:t>Max </a:t>
            </a:r>
            <a:r>
              <a:rPr lang="pl-PL" sz="2000" dirty="0" err="1"/>
              <a:t>epochs</a:t>
            </a:r>
            <a:r>
              <a:rPr lang="pl-PL" sz="2000" dirty="0"/>
              <a:t>: 50</a:t>
            </a:r>
          </a:p>
          <a:p>
            <a:r>
              <a:rPr lang="pl-PL" sz="2000" dirty="0" err="1"/>
              <a:t>Early</a:t>
            </a:r>
            <a:r>
              <a:rPr lang="pl-PL" sz="2000" dirty="0"/>
              <a:t> </a:t>
            </a:r>
            <a:r>
              <a:rPr lang="pl-PL" sz="2000" dirty="0" err="1"/>
              <a:t>stopping</a:t>
            </a:r>
            <a:r>
              <a:rPr lang="pl-PL" sz="2000" dirty="0"/>
              <a:t>: </a:t>
            </a:r>
            <a:r>
              <a:rPr lang="pl-PL" sz="2000" dirty="0" err="1"/>
              <a:t>Patience</a:t>
            </a:r>
            <a:r>
              <a:rPr lang="pl-PL" sz="2000" dirty="0"/>
              <a:t>=5 (</a:t>
            </a:r>
            <a:r>
              <a:rPr lang="pl-PL" sz="2000" dirty="0" err="1"/>
              <a:t>monitors</a:t>
            </a:r>
            <a:r>
              <a:rPr lang="pl-PL" sz="2000" dirty="0"/>
              <a:t> </a:t>
            </a:r>
            <a:r>
              <a:rPr lang="pl-PL" sz="2000" dirty="0" err="1"/>
              <a:t>validation</a:t>
            </a:r>
            <a:r>
              <a:rPr lang="pl-PL" sz="2000" dirty="0"/>
              <a:t> RMSE)</a:t>
            </a:r>
          </a:p>
          <a:p>
            <a:r>
              <a:rPr lang="pl-PL" sz="2000" dirty="0" err="1"/>
              <a:t>Loss</a:t>
            </a:r>
            <a:r>
              <a:rPr lang="pl-PL" sz="2000" dirty="0"/>
              <a:t> </a:t>
            </a:r>
            <a:r>
              <a:rPr lang="pl-PL" sz="2000" dirty="0" err="1"/>
              <a:t>function</a:t>
            </a:r>
            <a:r>
              <a:rPr lang="pl-PL" sz="2000" dirty="0"/>
              <a:t>: MSE (</a:t>
            </a:r>
            <a:r>
              <a:rPr lang="pl-PL" sz="2000" dirty="0" err="1"/>
              <a:t>computed</a:t>
            </a:r>
            <a:r>
              <a:rPr lang="pl-PL" sz="2000" dirty="0"/>
              <a:t> on </a:t>
            </a:r>
            <a:r>
              <a:rPr lang="pl-PL" sz="2000" dirty="0" err="1"/>
              <a:t>fused</a:t>
            </a:r>
            <a:r>
              <a:rPr lang="pl-PL" sz="2000" dirty="0"/>
              <a:t> </a:t>
            </a:r>
            <a:r>
              <a:rPr lang="pl-PL" sz="2000" dirty="0" err="1"/>
              <a:t>prediction</a:t>
            </a:r>
            <a:r>
              <a:rPr lang="pl-PL" sz="2000" dirty="0"/>
              <a:t>)</a:t>
            </a:r>
          </a:p>
          <a:p>
            <a:r>
              <a:rPr lang="pl-PL" sz="2000" dirty="0"/>
              <a:t>Cross-</a:t>
            </a:r>
            <a:r>
              <a:rPr lang="pl-PL" sz="2000" dirty="0" err="1"/>
              <a:t>validation</a:t>
            </a:r>
            <a:r>
              <a:rPr lang="pl-PL" sz="2000" dirty="0"/>
              <a:t>: 5-fold CV with </a:t>
            </a:r>
            <a:r>
              <a:rPr lang="pl-PL" sz="2000" dirty="0" err="1"/>
              <a:t>shuffling</a:t>
            </a:r>
            <a:endParaRPr lang="pl-PL" sz="2000" dirty="0"/>
          </a:p>
          <a:p>
            <a:r>
              <a:rPr lang="pl-PL" sz="2000" dirty="0" err="1"/>
              <a:t>Note</a:t>
            </a:r>
            <a:r>
              <a:rPr lang="pl-PL" sz="2000" dirty="0"/>
              <a:t>: </a:t>
            </a:r>
            <a:r>
              <a:rPr lang="pl-PL" sz="2000" dirty="0" err="1"/>
              <a:t>Models</a:t>
            </a:r>
            <a:r>
              <a:rPr lang="pl-PL" sz="2000" dirty="0"/>
              <a:t> </a:t>
            </a:r>
            <a:r>
              <a:rPr lang="pl-PL" sz="2000" dirty="0" err="1"/>
              <a:t>are</a:t>
            </a:r>
            <a:r>
              <a:rPr lang="pl-PL" sz="2000" dirty="0"/>
              <a:t> </a:t>
            </a:r>
            <a:r>
              <a:rPr lang="pl-PL" sz="2000" dirty="0" err="1"/>
              <a:t>trained</a:t>
            </a:r>
            <a:r>
              <a:rPr lang="pl-PL" sz="2000" dirty="0"/>
              <a:t> </a:t>
            </a:r>
            <a:r>
              <a:rPr lang="pl-PL" sz="2000" dirty="0" err="1"/>
              <a:t>independently</a:t>
            </a:r>
            <a:r>
              <a:rPr lang="pl-PL" sz="2000" dirty="0"/>
              <a:t>; </a:t>
            </a:r>
            <a:r>
              <a:rPr lang="pl-PL" sz="2000" dirty="0" err="1"/>
              <a:t>fusion</a:t>
            </a:r>
            <a:r>
              <a:rPr lang="pl-PL" sz="2000" dirty="0"/>
              <a:t> </a:t>
            </a:r>
            <a:r>
              <a:rPr lang="pl-PL" sz="2000" dirty="0" err="1"/>
              <a:t>occurs</a:t>
            </a:r>
            <a:r>
              <a:rPr lang="pl-PL" sz="2000" dirty="0"/>
              <a:t> </a:t>
            </a:r>
            <a:r>
              <a:rPr lang="pl-PL" sz="2000" dirty="0" err="1"/>
              <a:t>at</a:t>
            </a:r>
            <a:r>
              <a:rPr lang="pl-PL" sz="2000" dirty="0"/>
              <a:t> </a:t>
            </a:r>
            <a:r>
              <a:rPr lang="pl-PL" sz="2000" dirty="0" err="1"/>
              <a:t>prediction</a:t>
            </a:r>
            <a:r>
              <a:rPr lang="pl-PL" sz="2000" dirty="0"/>
              <a:t> </a:t>
            </a:r>
            <a:r>
              <a:rPr lang="pl-PL" sz="2000" dirty="0" err="1"/>
              <a:t>time</a:t>
            </a:r>
            <a:r>
              <a:rPr lang="pl-PL" sz="2000" dirty="0"/>
              <a:t> by </a:t>
            </a:r>
            <a:r>
              <a:rPr lang="pl-PL" sz="2000" dirty="0" err="1"/>
              <a:t>averaging</a:t>
            </a:r>
            <a:r>
              <a:rPr lang="pl-PL" sz="2000" dirty="0"/>
              <a:t> </a:t>
            </a:r>
            <a:r>
              <a:rPr lang="pl-PL" sz="2000" dirty="0" err="1"/>
              <a:t>outputs</a:t>
            </a:r>
            <a:r>
              <a:rPr lang="pl-PL" sz="2000" dirty="0"/>
              <a:t>.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EC172DE5-B0D9-F8FF-5521-C087388E4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332" y="5544659"/>
            <a:ext cx="8041004" cy="108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170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60252D-FF87-D8E4-D4CB-CCAEAF8E9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37F0E5A-AE0A-E1B8-BB9B-612C08F80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754D01-7386-C8DF-0959-C7EABA0D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7D859-744B-24C2-569C-1A6B95B14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AD3948-7175-589A-CE92-B5DFFB8DC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3D4841-782C-3ED3-9E03-5158EBA93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DA34239-5BBB-C6E2-9A53-EDDF5ABD9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7540-5A8F-FD57-8E65-3AE9956D3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B0F88084-0DF6-008B-B889-AF87DADAC4BA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1710F5-535C-F85E-24CF-AE28D033D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646" y="3681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l-PL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1018B75-D09D-EFAE-E505-4958C9C41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916717"/>
              </p:ext>
            </p:extLst>
          </p:nvPr>
        </p:nvGraphicFramePr>
        <p:xfrm>
          <a:off x="4227785" y="190005"/>
          <a:ext cx="7671293" cy="64101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5899">
                  <a:extLst>
                    <a:ext uri="{9D8B030D-6E8A-4147-A177-3AD203B41FA5}">
                      <a16:colId xmlns:a16="http://schemas.microsoft.com/office/drawing/2014/main" val="766121506"/>
                    </a:ext>
                  </a:extLst>
                </a:gridCol>
                <a:gridCol w="1095899">
                  <a:extLst>
                    <a:ext uri="{9D8B030D-6E8A-4147-A177-3AD203B41FA5}">
                      <a16:colId xmlns:a16="http://schemas.microsoft.com/office/drawing/2014/main" val="2422740490"/>
                    </a:ext>
                  </a:extLst>
                </a:gridCol>
                <a:gridCol w="1095899">
                  <a:extLst>
                    <a:ext uri="{9D8B030D-6E8A-4147-A177-3AD203B41FA5}">
                      <a16:colId xmlns:a16="http://schemas.microsoft.com/office/drawing/2014/main" val="4257559943"/>
                    </a:ext>
                  </a:extLst>
                </a:gridCol>
                <a:gridCol w="1095899">
                  <a:extLst>
                    <a:ext uri="{9D8B030D-6E8A-4147-A177-3AD203B41FA5}">
                      <a16:colId xmlns:a16="http://schemas.microsoft.com/office/drawing/2014/main" val="1063320288"/>
                    </a:ext>
                  </a:extLst>
                </a:gridCol>
                <a:gridCol w="1095899">
                  <a:extLst>
                    <a:ext uri="{9D8B030D-6E8A-4147-A177-3AD203B41FA5}">
                      <a16:colId xmlns:a16="http://schemas.microsoft.com/office/drawing/2014/main" val="781066052"/>
                    </a:ext>
                  </a:extLst>
                </a:gridCol>
                <a:gridCol w="1095899">
                  <a:extLst>
                    <a:ext uri="{9D8B030D-6E8A-4147-A177-3AD203B41FA5}">
                      <a16:colId xmlns:a16="http://schemas.microsoft.com/office/drawing/2014/main" val="4199063006"/>
                    </a:ext>
                  </a:extLst>
                </a:gridCol>
                <a:gridCol w="1095899">
                  <a:extLst>
                    <a:ext uri="{9D8B030D-6E8A-4147-A177-3AD203B41FA5}">
                      <a16:colId xmlns:a16="http://schemas.microsoft.com/office/drawing/2014/main" val="214080227"/>
                    </a:ext>
                  </a:extLst>
                </a:gridCol>
              </a:tblGrid>
              <a:tr h="1635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b="1" u="none" strike="noStrike">
                          <a:effectLst/>
                        </a:rPr>
                        <a:t>Model</a:t>
                      </a:r>
                      <a:endParaRPr lang="pl-PL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b="1" u="none" strike="noStrike">
                          <a:effectLst/>
                        </a:rPr>
                        <a:t>MAE (CV)</a:t>
                      </a:r>
                      <a:endParaRPr lang="pl-PL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b="1" u="none" strike="noStrike">
                          <a:effectLst/>
                        </a:rPr>
                        <a:t>RMSE (CV)</a:t>
                      </a:r>
                      <a:endParaRPr lang="pl-PL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R² (CV)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b="1" u="none" strike="noStrike">
                          <a:effectLst/>
                        </a:rPr>
                        <a:t>MAE (Test)</a:t>
                      </a:r>
                      <a:endParaRPr lang="pl-PL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b="1" u="none" strike="noStrike">
                          <a:effectLst/>
                        </a:rPr>
                        <a:t>RMSE (Test)</a:t>
                      </a:r>
                      <a:endParaRPr lang="pl-PL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R² (Test)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extLst>
                  <a:ext uri="{0D108BD9-81ED-4DB2-BD59-A6C34878D82A}">
                    <a16:rowId xmlns:a16="http://schemas.microsoft.com/office/drawing/2014/main" val="3670492904"/>
                  </a:ext>
                </a:extLst>
              </a:tr>
              <a:tr h="4149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Random Forest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0.1347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0.2009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0.9532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0.1313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0.1963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0.9551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extLst>
                  <a:ext uri="{0D108BD9-81ED-4DB2-BD59-A6C34878D82A}">
                    <a16:rowId xmlns:a16="http://schemas.microsoft.com/office/drawing/2014/main" val="3665798926"/>
                  </a:ext>
                </a:extLst>
              </a:tr>
              <a:tr h="2207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CatBoost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0.1328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0.1936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0.9565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0.1319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0.1921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0.9570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extLst>
                  <a:ext uri="{0D108BD9-81ED-4DB2-BD59-A6C34878D82A}">
                    <a16:rowId xmlns:a16="http://schemas.microsoft.com/office/drawing/2014/main" val="679361126"/>
                  </a:ext>
                </a:extLst>
              </a:tr>
              <a:tr h="4149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MLP (shallow)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0.1365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0.1997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0.9537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0.1339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0.1947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0.9559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extLst>
                  <a:ext uri="{0D108BD9-81ED-4DB2-BD59-A6C34878D82A}">
                    <a16:rowId xmlns:a16="http://schemas.microsoft.com/office/drawing/2014/main" val="3298025624"/>
                  </a:ext>
                </a:extLst>
              </a:tr>
              <a:tr h="8196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Regularized MLP (LayerNorm + Dropout)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0.1329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0.1944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0.9562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0.1346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0.1941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0.9561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extLst>
                  <a:ext uri="{0D108BD9-81ED-4DB2-BD59-A6C34878D82A}">
                    <a16:rowId xmlns:a16="http://schemas.microsoft.com/office/drawing/2014/main" val="4067244981"/>
                  </a:ext>
                </a:extLst>
              </a:tr>
              <a:tr h="2207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XGBoost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0.1450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0.2082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0.9497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0.1446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0.2101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0.9486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extLst>
                  <a:ext uri="{0D108BD9-81ED-4DB2-BD59-A6C34878D82A}">
                    <a16:rowId xmlns:a16="http://schemas.microsoft.com/office/drawing/2014/main" val="3171160643"/>
                  </a:ext>
                </a:extLst>
              </a:tr>
              <a:tr h="2207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LightGBM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0.1465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0.2099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0.9489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0.1462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0.2087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0.9493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extLst>
                  <a:ext uri="{0D108BD9-81ED-4DB2-BD59-A6C34878D82A}">
                    <a16:rowId xmlns:a16="http://schemas.microsoft.com/office/drawing/2014/main" val="1473689791"/>
                  </a:ext>
                </a:extLst>
              </a:tr>
              <a:tr h="2207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TabNet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0.1493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0.2152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0.9462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0.1481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0.2136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0.9469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extLst>
                  <a:ext uri="{0D108BD9-81ED-4DB2-BD59-A6C34878D82A}">
                    <a16:rowId xmlns:a16="http://schemas.microsoft.com/office/drawing/2014/main" val="3978200651"/>
                  </a:ext>
                </a:extLst>
              </a:tr>
              <a:tr h="6172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FT-Transformer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0.1636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0.2304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0.9384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0.1576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0.2228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0.9423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extLst>
                  <a:ext uri="{0D108BD9-81ED-4DB2-BD59-A6C34878D82A}">
                    <a16:rowId xmlns:a16="http://schemas.microsoft.com/office/drawing/2014/main" val="3399669346"/>
                  </a:ext>
                </a:extLst>
              </a:tr>
              <a:tr h="8196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Early Fusion (HerBERT + MLP)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0.1742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0.2442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0.9307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0.1647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0.2296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0.9386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extLst>
                  <a:ext uri="{0D108BD9-81ED-4DB2-BD59-A6C34878D82A}">
                    <a16:rowId xmlns:a16="http://schemas.microsoft.com/office/drawing/2014/main" val="2360604280"/>
                  </a:ext>
                </a:extLst>
              </a:tr>
              <a:tr h="4149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Lasso Regression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0.1667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0.2497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0.9277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0.1656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0.2488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0.9279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extLst>
                  <a:ext uri="{0D108BD9-81ED-4DB2-BD59-A6C34878D82A}">
                    <a16:rowId xmlns:a16="http://schemas.microsoft.com/office/drawing/2014/main" val="425497972"/>
                  </a:ext>
                </a:extLst>
              </a:tr>
              <a:tr h="4149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Linear Regression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0.1668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0.2496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0.9278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0.1657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0.2488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0.9280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extLst>
                  <a:ext uri="{0D108BD9-81ED-4DB2-BD59-A6C34878D82A}">
                    <a16:rowId xmlns:a16="http://schemas.microsoft.com/office/drawing/2014/main" val="783195440"/>
                  </a:ext>
                </a:extLst>
              </a:tr>
              <a:tr h="4149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Ridge Regression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0.1668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0.2496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0.9278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0.1657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0.2488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0.9280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extLst>
                  <a:ext uri="{0D108BD9-81ED-4DB2-BD59-A6C34878D82A}">
                    <a16:rowId xmlns:a16="http://schemas.microsoft.com/office/drawing/2014/main" val="2817246805"/>
                  </a:ext>
                </a:extLst>
              </a:tr>
              <a:tr h="4149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Decision Tree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0.1729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0.2499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0.9276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0.1687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0.2445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0.9304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extLst>
                  <a:ext uri="{0D108BD9-81ED-4DB2-BD59-A6C34878D82A}">
                    <a16:rowId xmlns:a16="http://schemas.microsoft.com/office/drawing/2014/main" val="1900172741"/>
                  </a:ext>
                </a:extLst>
              </a:tr>
              <a:tr h="6172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Late Fusion (text + struct)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0.1758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0.2466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0.9294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0.1791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0.2473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0.9288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94" marR="7794" marT="7794" marB="0" anchor="b"/>
                </a:tc>
                <a:extLst>
                  <a:ext uri="{0D108BD9-81ED-4DB2-BD59-A6C34878D82A}">
                    <a16:rowId xmlns:a16="http://schemas.microsoft.com/office/drawing/2014/main" val="1245113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44270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5780</TotalTime>
  <Words>1402</Words>
  <Application>Microsoft Macintosh PowerPoint</Application>
  <PresentationFormat>Panoramiczny</PresentationFormat>
  <Paragraphs>287</Paragraphs>
  <Slides>21</Slides>
  <Notes>12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Aptos Narrow</vt:lpstr>
      <vt:lpstr>Arial</vt:lpstr>
      <vt:lpstr>IBM Plex Sans</vt:lpstr>
      <vt:lpstr>Mundial Light</vt:lpstr>
      <vt:lpstr>Motyw pakietu Office</vt:lpstr>
      <vt:lpstr>Used Car Price Prediction with Neural Regression Models Presentation Two</vt:lpstr>
      <vt:lpstr>Source code: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Hebda</dc:creator>
  <cp:lastModifiedBy>Igor Hebda</cp:lastModifiedBy>
  <cp:revision>37</cp:revision>
  <dcterms:created xsi:type="dcterms:W3CDTF">2025-05-07T14:02:37Z</dcterms:created>
  <dcterms:modified xsi:type="dcterms:W3CDTF">2025-12-11T11:02:37Z</dcterms:modified>
</cp:coreProperties>
</file>